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8" r:id="rId6"/>
    <p:sldId id="268" r:id="rId7"/>
    <p:sldId id="259" r:id="rId8"/>
    <p:sldId id="269" r:id="rId9"/>
    <p:sldId id="270" r:id="rId10"/>
    <p:sldId id="260" r:id="rId11"/>
    <p:sldId id="271" r:id="rId12"/>
    <p:sldId id="261" r:id="rId13"/>
    <p:sldId id="272" r:id="rId14"/>
    <p:sldId id="262" r:id="rId15"/>
    <p:sldId id="273" r:id="rId16"/>
    <p:sldId id="263" r:id="rId17"/>
    <p:sldId id="274" r:id="rId18"/>
    <p:sldId id="264" r:id="rId19"/>
    <p:sldId id="275" r:id="rId20"/>
    <p:sldId id="265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3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1933"/>
        <p:guide pos="3840"/>
        <p:guide orient="horz" pos="23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822960" y="4937760"/>
            <a:ext cx="2743200" cy="27432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63199" y="-1463039"/>
            <a:ext cx="3901439" cy="3901439"/>
          </a:xfrm>
          <a:prstGeom prst="ellipse">
            <a:avLst/>
          </a:prstGeom>
          <a:solidFill>
            <a:srgbClr val="2238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828799" y="5486399"/>
            <a:ext cx="4267199" cy="4267199"/>
          </a:xfrm>
          <a:prstGeom prst="ellipse">
            <a:avLst/>
          </a:prstGeom>
          <a:solidFill>
            <a:srgbClr val="2238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950719"/>
            <a:ext cx="10972799" cy="975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 i="0">
                <a:solidFill>
                  <a:srgbClr val="FFFFFF"/>
                </a:solidFill>
                <a:latin typeface="Times New Roman"/>
              </a:rPr>
              <a:t>Edge AIOps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926079"/>
            <a:ext cx="10972799" cy="85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Times New Roman"/>
              </a:rPr>
              <a:t>Multi-Agent Incident Response</a:t>
            </a:r>
            <a:r>
              <a:rPr sz="3600" b="1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731519" y="3962399"/>
            <a:ext cx="975359" cy="73151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4206239"/>
            <a:ext cx="109727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E85D26"/>
                </a:solidFill>
                <a:latin typeface="宋体"/>
              </a:rPr>
              <a:t>Agents Decide · Operators Execute</a:t>
            </a:r>
            <a:r>
              <a:rPr sz="1500" b="0" i="0">
                <a:solidFill>
                  <a:srgbClr val="E85D26"/>
                </a:solidFill>
                <a:latin typeface="Times New Roman"/>
              </a:rPr>
              <a:t/>
            </a:r>
            <a:r>
              <a:rPr sz="1500" b="0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591311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EB6D6"/>
                </a:solidFill>
                <a:latin typeface="Times New Roman"/>
              </a:rPr>
              <a:t>Agent Infra 新智基座 · 2026</a:t>
            </a:r>
            <a:r>
              <a:rPr sz="1100" b="0" i="0">
                <a:solidFill>
                  <a:srgbClr val="AEB6D6"/>
                </a:solidFill>
                <a:latin typeface="宋体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627887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AEB6D6"/>
                </a:solidFill>
                <a:latin typeface="宋体"/>
              </a:rPr>
              <a:t>吉林大学 · 大数据管理与应用 · 个人团队</a:t>
            </a:r>
            <a:r>
              <a:rPr sz="1100" b="0" i="0">
                <a:solidFill>
                  <a:srgbClr val="AEB6D6"/>
                </a:solidFill>
                <a:latin typeface="Times New Roman"/>
              </a:rPr>
              <a:t/>
            </a:r>
            <a:r>
              <a:rPr sz="1100" b="0" i="0">
                <a:solidFill>
                  <a:srgbClr val="AEB6D6"/>
                </a:solidFill>
                <a:latin typeface="宋体"/>
              </a:rPr>
              <a:t/>
            </a:r>
            <a:r>
              <a:rPr sz="1100" b="0" i="0">
                <a:solidFill>
                  <a:srgbClr val="AEB6D6"/>
                </a:solidFill>
                <a:latin typeface="Times New Roman"/>
              </a:rPr>
              <a:t/>
            </a:r>
            <a:r>
              <a:rPr sz="1100" b="0" i="0">
                <a:solidFill>
                  <a:srgbClr val="AEB6D6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P0 · 一页纸速览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作品简介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0392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项目名称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 b="0" i="0">
                <a:solidFill>
                  <a:srgbClr val="1F2228"/>
                </a:solidFill>
                <a:latin typeface="Times New Roman"/>
              </a:rPr>
              <a:t>Edge AIOps</a:t>
            </a:r>
            <a:endParaRPr lang="en-US" sz="1050" dirty="0"/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智能运维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AgentTeam</a:t>
            </a:r>
          </a:p>
        </p:txBody>
      </p:sp>
      <p:sp>
        <p:nvSpPr>
          <p:cNvPr id="10" name="Shape 8"/>
          <p:cNvSpPr/>
          <p:nvPr/>
        </p:nvSpPr>
        <p:spPr>
          <a:xfrm>
            <a:off x="4353458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9490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6378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问题与场景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09490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 b="0" i="0">
                <a:solidFill>
                  <a:srgbClr val="1F2228"/>
                </a:solidFill>
                <a:latin typeface="宋体"/>
              </a:rPr>
              <a:t>面向云上应用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/ SRE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团队</a:t>
            </a:r>
            <a:endParaRPr lang="en-US" sz="1050" dirty="0"/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故障需人工翻日志、查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Trace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、审配置</a:t>
            </a:r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恢复慢且依赖资深经验</a:t>
            </a:r>
          </a:p>
        </p:txBody>
      </p:sp>
      <p:sp>
        <p:nvSpPr>
          <p:cNvPr id="15" name="Shape 13"/>
          <p:cNvSpPr/>
          <p:nvPr/>
        </p:nvSpPr>
        <p:spPr>
          <a:xfrm>
            <a:off x="8112557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368589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15477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8589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 b="0" i="0">
                <a:solidFill>
                  <a:srgbClr val="1F2228"/>
                </a:solidFill>
                <a:latin typeface="宋体"/>
              </a:rPr>
              <a:t>多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Agent + Skill +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工具网关</a:t>
            </a:r>
            <a:endParaRPr lang="en-US" sz="1050" dirty="0"/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告警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→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根因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→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修复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→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验证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零人工闭环</a:t>
            </a:r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低风险自动执行，高风险审批</a:t>
            </a:r>
          </a:p>
        </p:txBody>
      </p:sp>
      <p:sp>
        <p:nvSpPr>
          <p:cNvPr id="20" name="Shape 18"/>
          <p:cNvSpPr/>
          <p:nvPr/>
        </p:nvSpPr>
        <p:spPr>
          <a:xfrm>
            <a:off x="594360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50392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97280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创新点与差异化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0392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 b="0" i="0">
                <a:solidFill>
                  <a:srgbClr val="1F2228"/>
                </a:solidFill>
                <a:latin typeface="Times New Roman"/>
              </a:rPr>
              <a:t>4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个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LLM Agent + TeamLeader</a:t>
            </a:r>
            <a:endParaRPr lang="en-US" sz="1050" dirty="0"/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主动跨系统取证</a:t>
            </a:r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内置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L0-L3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风险分级</a:t>
            </a:r>
          </a:p>
        </p:txBody>
      </p:sp>
      <p:sp>
        <p:nvSpPr>
          <p:cNvPr id="25" name="Shape 23"/>
          <p:cNvSpPr/>
          <p:nvPr/>
        </p:nvSpPr>
        <p:spPr>
          <a:xfrm>
            <a:off x="4353458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09490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56378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复用价值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09490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 b="0" i="0">
                <a:solidFill>
                  <a:srgbClr val="1F2228"/>
                </a:solidFill>
                <a:latin typeface="Times New Roman"/>
              </a:rPr>
              <a:t>7 个 Skill + 11 类工具契约</a:t>
            </a:r>
            <a:r>
              <a:rPr sz="1050" b="0" i="0">
                <a:solidFill>
                  <a:srgbClr val="1F2228"/>
                </a:solidFill>
                <a:latin typeface="宋体"/>
              </a:rPr>
              <a:t/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50" b="0" i="0">
                <a:solidFill>
                  <a:srgbClr val="1F2228"/>
                </a:solidFill>
                <a:latin typeface="宋体"/>
              </a:rPr>
              <a:t/>
            </a:r>
            <a:endParaRPr lang="en-US" sz="1050" dirty="0"/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可发布到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Nacos AI Registry</a:t>
            </a:r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平滑升级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MCP / Higress</a:t>
            </a:r>
          </a:p>
        </p:txBody>
      </p:sp>
      <p:sp>
        <p:nvSpPr>
          <p:cNvPr id="30" name="Shape 28"/>
          <p:cNvSpPr/>
          <p:nvPr/>
        </p:nvSpPr>
        <p:spPr>
          <a:xfrm>
            <a:off x="8112557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368589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15477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当前进展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368589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 b="0" i="0">
                <a:solidFill>
                  <a:srgbClr val="1F2228"/>
                </a:solidFill>
                <a:latin typeface="Times New Roman"/>
              </a:rPr>
              <a:t>2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个生产事故闭环：</a:t>
            </a:r>
            <a:endParaRPr lang="en-US" sz="1050" dirty="0"/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连接池耗尽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+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慢</a:t>
            </a:r>
            <a:r>
              <a:rPr sz="1050" b="0" i="0">
                <a:solidFill>
                  <a:srgbClr val="1F2228"/>
                </a:solidFill>
                <a:latin typeface="Times New Roman"/>
              </a:rPr>
              <a:t> SQL </a:t>
            </a:r>
            <a:r>
              <a:rPr sz="1050" b="0" i="0">
                <a:solidFill>
                  <a:srgbClr val="1F2228"/>
                </a:solidFill>
                <a:latin typeface="宋体"/>
              </a:rPr>
              <a:t>劣化</a:t>
            </a:r>
          </a:p>
          <a:p>
            <a:r>
              <a:rPr sz="1050" b="0" i="0">
                <a:solidFill>
                  <a:srgbClr val="1F2228"/>
                </a:solidFill>
                <a:latin typeface="宋体"/>
              </a:rPr>
              <a:t>结构化事故报告</a:t>
            </a:r>
          </a:p>
        </p:txBody>
      </p:sp>
      <p:sp>
        <p:nvSpPr>
          <p:cNvPr id="35" name="Text 33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0515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zh-CN" altLang="en-US" sz="3000" b="1" dirty="0">
              <a:solidFill>
                <a:srgbClr val="FFFFFF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95528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5528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16152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25616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25616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6240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工程落地、运行验证与安全可审计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94360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955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5528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16152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24448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2561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25616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6240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开源开放计划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4360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95528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95528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16152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协同设计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24448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525616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25616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6240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落地计划与进展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4360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95528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95528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16152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Skills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工具体系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24448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525616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525616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46240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视频（如有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altLang="zh-CN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一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场景与价值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Scene &amp; Value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告警归并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根因定位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边缘验收师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全链路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提效</a:t>
            </a:r>
            <a:r>
              <a:rPr sz="1000" b="1" i="0">
                <a:solidFill>
                  <a:srgbClr val="14275C"/>
                </a:solidFill>
                <a:latin typeface="Times New Roman"/>
              </a:rPr>
              <a:t> 16×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从真实生产事故出发，看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AgentTeams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在运维场景的实际价值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01 · 场景与价值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边缘 + 模型 + OTA · 一个协同方案</a:t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255519"/>
            <a:ext cx="5547359" cy="36575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377439"/>
            <a:ext cx="512063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场景 01 · INC-2001</a:t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804159"/>
            <a:ext cx="5120639" cy="67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OTA 模型回归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35679"/>
            <a:ext cx="5120639" cy="2316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Times New Roman"/>
              </a:rPr>
              <a:t>OTA 把 resnet50 v3.2.1 推到杭州集群（无 canary）</a:t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宋体"/>
              </a:rPr>
              <a:t>accuracy 0.92 → 0.71 / p99 420 → 1450ms</a:t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Times New Roman"/>
              </a:rPr>
              <a:t>Agent 自动：归并告警 → 多源归因</a:t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Times New Roman"/>
              </a:rPr>
              <a:t>→ quarantine_node L1 + rollback_model L2 待审</a:t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宋体"/>
              </a:rPr>
              <a:t>结果：accuracy 0.91 / p99 420ms / fleet healthy</a:t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156959" y="2255519"/>
            <a:ext cx="5547359" cy="36575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799" y="2377439"/>
            <a:ext cx="512063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场景 02 · INC-2002</a:t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799" y="2804159"/>
            <a:ext cx="5120639" cy="67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边缘节点故障</a:t>
            </a:r>
            <a:r>
              <a:rPr sz="2200" b="1" i="0">
                <a:solidFill>
                  <a:srgbClr val="FFFFFF"/>
                </a:solidFill>
                <a:latin typeface="Times New Roman"/>
              </a:rPr>
              <a:t/>
            </a:r>
            <a:r>
              <a:rPr sz="2200" b="1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535679"/>
            <a:ext cx="5120639" cy="2316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宋体"/>
              </a:rPr>
              <a:t>edge-shanghai-02 不可达 + edge-shanghai-05 GPU 热临界</a:t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宋体"/>
              </a:rPr>
              <a:t>throughput 12 qps / latency 1850ms</a:t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Times New Roman"/>
              </a:rPr>
              <a:t>Agent 自动：多源归因</a:t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Times New Roman"/>
              </a:rPr>
              <a:t>→ quarantine_node + throttle</a:t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Times New Roman"/>
              </a:rPr>
              <a:t>→ verify 端点恢复</a:t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宋体"/>
              </a:rPr>
              <a:t>结果：fleet healthy / SLO 达标</a:t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050" b="0" i="0">
                <a:solidFill>
                  <a:srgbClr val="FFFFFF"/>
                </a:solidFill>
                <a:latin typeface="宋体"/>
              </a:rPr>
              <a:t/>
            </a:r>
            <a:r>
              <a:rPr sz="105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87679" y="6095999"/>
            <a:ext cx="3535679" cy="12191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99" y="6156959"/>
            <a:ext cx="219455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E85D26"/>
                </a:solidFill>
                <a:latin typeface="Times New Roman"/>
              </a:rPr>
              <a:t>0.71→0.91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99" y="6766559"/>
            <a:ext cx="219455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E727A"/>
                </a:solidFill>
                <a:latin typeface="Times New Roman"/>
              </a:rPr>
              <a:t>ratio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04159" y="6156959"/>
            <a:ext cx="48767" cy="109727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79" y="6278879"/>
            <a:ext cx="1036319" cy="85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4275C"/>
                </a:solidFill>
                <a:latin typeface="Times New Roman"/>
              </a:rPr>
              <a:t>accuracy</a:t>
            </a:r>
            <a:r>
              <a:rPr sz="11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267199" y="6095999"/>
            <a:ext cx="3535679" cy="12191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6156959"/>
            <a:ext cx="219455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E85D26"/>
                </a:solidFill>
                <a:latin typeface="Times New Roman"/>
              </a:rPr>
              <a:t>0.34→0.10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6766559"/>
            <a:ext cx="219455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E727A"/>
                </a:solidFill>
                <a:latin typeface="Times New Roman"/>
              </a:rPr>
              <a:t>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79" y="6156959"/>
            <a:ext cx="48767" cy="109727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599" y="6278879"/>
            <a:ext cx="1036319" cy="85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4275C"/>
                </a:solidFill>
                <a:latin typeface="Times New Roman"/>
              </a:rPr>
              <a:t>drift score</a:t>
            </a:r>
            <a:r>
              <a:rPr sz="11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9" y="6095999"/>
            <a:ext cx="3535679" cy="12191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8639" y="6156959"/>
            <a:ext cx="219455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E85D26"/>
                </a:solidFill>
                <a:latin typeface="Times New Roman"/>
              </a:rPr>
              <a:t>≤12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39" y="6766559"/>
            <a:ext cx="219455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E727A"/>
                </a:solidFill>
                <a:latin typeface="宋体"/>
              </a:rPr>
              <a:t>分钟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63199" y="6156959"/>
            <a:ext cx="48767" cy="109727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85119" y="6278879"/>
            <a:ext cx="1036319" cy="85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4275C"/>
                </a:solidFill>
                <a:latin typeface="宋体"/>
              </a:rPr>
              <a:t>端到端闭环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二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方案总览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Architecture Overview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AgentTeams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qwenpow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HTTP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网关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Nacos Reg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Skill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驱动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零人工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端到端架构：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6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阶段闭环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+ 4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关键技术选型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3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02 · 方案总览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端到端 4 阶段流程 + HITL seam</a:t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39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67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7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接收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7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告警归并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88975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80415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3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743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分析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3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根因定位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377951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9391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6719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19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决策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719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方案规划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66927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8367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695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5695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风险分级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5695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低危执行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755903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473439" y="2438399"/>
            <a:ext cx="853439" cy="85343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1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恢复验收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1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边缘验收师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48799" y="2828543"/>
            <a:ext cx="426719" cy="121919"/>
          </a:xfrm>
          <a:prstGeom prst="rightArrow">
            <a:avLst/>
          </a:prstGeom>
          <a:solidFill>
            <a:srgbClr val="CC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363199" y="2438399"/>
            <a:ext cx="853439" cy="85343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36479" y="2657855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36479" y="3474719"/>
            <a:ext cx="170687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宋体"/>
              </a:rPr>
              <a:t>审计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6479" y="3901439"/>
            <a:ext cx="17068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审计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trace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7679" y="4876799"/>
            <a:ext cx="2621279" cy="12191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959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AgentTeams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59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多</a:t>
            </a:r>
            <a:r>
              <a:rPr sz="1000" b="0" i="0">
                <a:solidFill>
                  <a:srgbClr val="CCD3E0"/>
                </a:solidFill>
                <a:latin typeface="Times New Roman"/>
              </a:rPr>
              <a:t> Agent </a:t>
            </a:r>
            <a:r>
              <a:rPr sz="1000" b="0" i="0">
                <a:solidFill>
                  <a:srgbClr val="CCD3E0"/>
                </a:solidFill>
                <a:latin typeface="宋体"/>
              </a:rPr>
              <a:t>编排框架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52799" y="4876799"/>
            <a:ext cx="2621279" cy="12191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7471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qwenpow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7471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Times New Roman"/>
              </a:rPr>
              <a:t>LLM </a:t>
            </a:r>
            <a:r>
              <a:rPr sz="1000" b="0" i="0">
                <a:solidFill>
                  <a:srgbClr val="CCD3E0"/>
                </a:solidFill>
                <a:latin typeface="宋体"/>
              </a:rPr>
              <a:t>推理运行时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19" y="4876799"/>
            <a:ext cx="2621279" cy="121919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3983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HTTP </a:t>
            </a:r>
            <a:r>
              <a:rPr sz="1600" b="1" i="0">
                <a:solidFill>
                  <a:srgbClr val="FFFFFF"/>
                </a:solidFill>
                <a:latin typeface="宋体"/>
              </a:rPr>
              <a:t>网关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3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工具接入层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83039" y="4876799"/>
            <a:ext cx="2621279" cy="12191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04959" y="499871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Nacos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04959" y="5547359"/>
            <a:ext cx="24383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Times New Roman"/>
              </a:rPr>
              <a:t>AI Registry </a:t>
            </a:r>
            <a:r>
              <a:rPr sz="1000" b="0" i="0">
                <a:solidFill>
                  <a:srgbClr val="CCD3E0"/>
                </a:solidFill>
                <a:latin typeface="宋体"/>
              </a:rPr>
              <a:t>注册中心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7679" y="640079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宋体"/>
              </a:rPr>
              <a:t>调用模式：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POST /tools/{scenario}/{tool}.{function_name} · mock </a:t>
            </a:r>
            <a:r>
              <a:rPr sz="1000" b="0" i="0">
                <a:solidFill>
                  <a:srgbClr val="6E727A"/>
                </a:solidFill>
                <a:latin typeface="宋体"/>
              </a:rPr>
              <a:t>工具平滑升级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MCP / Higress MCP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三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多</a:t>
            </a:r>
            <a:r>
              <a:rPr sz="5600" b="1" i="0">
                <a:solidFill>
                  <a:srgbClr val="14275C"/>
                </a:solidFill>
                <a:latin typeface="Times New Roman"/>
              </a:rPr>
              <a:t>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Multi-Agent Collaboration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TeamLeader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Alert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RCA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EdgeOrchestrator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EdgeSentry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L0-L3 分级</a:t>
            </a:r>
            <a:r>
              <a:rPr sz="10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/>
              </a:rPr>
              <a:t>5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个角色分工明确：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TeamLeader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统一调度，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4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个业务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Agent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串行协作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03 · 多 Agent 协同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  <a:r>
              <a:rPr sz="13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4 业务 Agent + 1 TeamLeader + 1 Manager</a:t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438399"/>
            <a:ext cx="2072639" cy="30479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1119" y="21945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5359" y="2255519"/>
            <a:ext cx="12191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</a:rPr>
              <a:t>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39" y="262127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TeamLeader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39" y="316991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调度中枢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39" y="365759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统一编排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Manager 动态调度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DAG-ready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79775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0735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EdgeSentinel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0735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边缘哨兵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0735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边缘+模型+OTA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三信号融合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输出事故候选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1871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2831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EdgeDiagnostician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2831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边缘诊断师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2831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日志+Trace+OTA</a:t>
            </a:r>
            <a:r>
              <a:rPr sz="1000" b="0" i="0">
                <a:solidFill>
                  <a:srgbClr val="CCD3E0"/>
                </a:solidFill>
                <a:latin typeface="Times New Roman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模型遥测+Runbook RAG</a:t>
            </a:r>
            <a:r>
              <a:rPr sz="1000" b="0" i="0">
                <a:solidFill>
                  <a:srgbClr val="CCD3E0"/>
                </a:solidFill>
                <a:latin typeface="Times New Roman"/>
              </a:rPr>
              <a:t/>
            </a:r>
            <a:r>
              <a:rPr sz="1000" b="0" i="0">
                <a:solidFill>
                  <a:srgbClr val="CCD3E0"/>
                </a:solidFill>
                <a:latin typeface="宋体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多源归因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3967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7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7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边缘编排师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生成方案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Times New Roman"/>
              </a:rPr>
              <a:t>L0-L3 分级</a:t>
            </a:r>
            <a:r>
              <a:rPr sz="1000" b="0" i="0">
                <a:solidFill>
                  <a:srgbClr val="CCD3E0"/>
                </a:solidFill>
                <a:latin typeface="宋体"/>
              </a:rPr>
              <a:t/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HITL seam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56063" y="2804159"/>
            <a:ext cx="2072639" cy="24383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7023" y="2987039"/>
            <a:ext cx="195071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EdgeSentry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7023" y="3535679"/>
            <a:ext cx="1950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宋体"/>
              </a:rPr>
              <a:t>边缘验收师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7023" y="4023359"/>
            <a:ext cx="1950719" cy="1584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SLA + 队列状态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request verification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CCD3E0"/>
                </a:solidFill>
                <a:latin typeface="宋体"/>
              </a:rPr>
              <a:t>postmortem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79" y="5913119"/>
            <a:ext cx="11216639" cy="79247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19" y="597407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状态流转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6315455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4275C"/>
                </a:solidFill>
                <a:latin typeface="Times New Roman"/>
              </a:rPr>
              <a:t>event → triaging → root_caused → planned → approved → executing → verifying → resolved → reported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四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Times New Roman"/>
              </a:rPr>
              <a:t>Skill </a:t>
            </a:r>
            <a:r>
              <a:rPr sz="5600" b="1" i="0">
                <a:solidFill>
                  <a:srgbClr val="14275C"/>
                </a:solidFill>
                <a:latin typeface="宋体"/>
              </a:rPr>
              <a:t>体系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Skill Engineering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alert-fusion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impact-mapping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log-trace-rca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remediate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auto-exec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399" y="585215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47359" y="590092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risk-guard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/>
              </a:rPr>
              <a:t>7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Skill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覆盖全流程，每个都有明确的输入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/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输出契约与失败处理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04 · Skill 体系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7 个决策类 Skill · 1 个示例规格</a:t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39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alert-fusion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39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告警融合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2097023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3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impact-mapping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7983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影响映射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6367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7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log-trace-rca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7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多源归因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5711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1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remediation-plan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1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修复计划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25055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6015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risk-guard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5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风险分级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34399" y="2316479"/>
            <a:ext cx="1511807" cy="85343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59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recovery-verify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59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宋体"/>
              </a:rPr>
              <a:t>恢复验收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3743" y="2316479"/>
            <a:ext cx="1511807" cy="85343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04703" y="237743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risk-guard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04703" y="2743199"/>
            <a:ext cx="1389887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85D26"/>
                </a:solidFill>
                <a:latin typeface="宋体"/>
              </a:rPr>
              <a:t>风险分级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679" y="3474719"/>
            <a:ext cx="5608319" cy="280415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19" y="3596639"/>
            <a:ext cx="512063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Times New Roman"/>
              </a:rPr>
              <a:t>★ risk-guard 完整规格</a:t>
            </a:r>
            <a:r>
              <a:rPr sz="11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19" y="3962399"/>
            <a:ext cx="512063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宋体"/>
              </a:rPr>
              <a:t>风险守卫（L0-L3 分级）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4450079"/>
            <a:ext cx="5120639" cy="1706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宋体"/>
              </a:rPr>
              <a:t>【输入】</a:t>
            </a:r>
            <a:r>
              <a:rPr sz="950" b="0" i="0">
                <a:solidFill>
                  <a:srgbClr val="FFFFFF"/>
                </a:solidFill>
                <a:latin typeface="Times New Roman"/>
              </a:rPr>
              <a:t>remediation_plan {action_type,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target_resource, action_params, impact}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宋体"/>
              </a:rPr>
              <a:t>【输出】</a:t>
            </a:r>
            <a:r>
              <a:rPr sz="950" b="0" i="0">
                <a:solidFill>
                  <a:srgbClr val="FFFFFF"/>
                </a:solidFill>
                <a:latin typeface="Times New Roman"/>
              </a:rPr>
              <a:t>risk_level: L0/L1/L2/L3,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required_approval, risk_reason, mitigation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宋体"/>
              </a:rPr>
              <a:t>【依赖】</a:t>
            </a:r>
            <a:r>
              <a:rPr sz="950" b="0" i="0">
                <a:solidFill>
                  <a:srgbClr val="FFFFFF"/>
                </a:solidFill>
                <a:latin typeface="Times New Roman"/>
              </a:rPr>
              <a:t>auto-executor, remediation-plan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宋体"/>
              </a:rPr>
              <a:t>【失败】解析失败</a:t>
            </a:r>
            <a:r>
              <a:rPr sz="950" b="0" i="0">
                <a:solidFill>
                  <a:srgbClr val="FFFFFF"/>
                </a:solidFill>
                <a:latin typeface="Times New Roman"/>
              </a:rPr>
              <a:t>/</a:t>
            </a:r>
            <a:r>
              <a:rPr sz="950" b="0" i="0">
                <a:solidFill>
                  <a:srgbClr val="FFFFFF"/>
                </a:solidFill>
                <a:latin typeface="宋体"/>
              </a:rPr>
              <a:t>未知</a:t>
            </a:r>
            <a:r>
              <a:rPr sz="950" b="0" i="0">
                <a:solidFill>
                  <a:srgbClr val="FFFFFF"/>
                </a:solidFill>
                <a:latin typeface="Times New Roman"/>
              </a:rPr>
              <a:t> action → </a:t>
            </a:r>
            <a:r>
              <a:rPr sz="950" b="0" i="0">
                <a:solidFill>
                  <a:srgbClr val="FFFFFF"/>
                </a:solidFill>
                <a:latin typeface="宋体"/>
              </a:rPr>
              <a:t>一律返回</a:t>
            </a:r>
            <a:r>
              <a:rPr sz="950" b="0" i="0">
                <a:solidFill>
                  <a:srgbClr val="FFFFFF"/>
                </a:solidFill>
                <a:latin typeface="Times New Roman"/>
              </a:rPr>
              <a:t> L3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9839" y="3474719"/>
            <a:ext cx="5364479" cy="28041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79" y="3657599"/>
            <a:ext cx="4876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其余 6 个 Skill 契约</a:t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100" b="1" i="0">
                <a:solidFill>
                  <a:srgbClr val="E85D26"/>
                </a:solidFill>
                <a:latin typeface="宋体"/>
              </a:rPr>
              <a:t/>
            </a:r>
            <a:r>
              <a:rPr sz="11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1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4145279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228"/>
                </a:solidFill>
                <a:latin typeface="Times New Roman"/>
              </a:rPr>
              <a:t>· alert-fusion: 多类信号 → 事故候选</a:t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  <a:r>
              <a:rPr sz="10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79" y="4474463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228"/>
                </a:solidFill>
                <a:latin typeface="Times New Roman"/>
              </a:rPr>
              <a:t>· impact-mapping: 事故 → 节点+SLO 影响</a:t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  <a:r>
              <a:rPr sz="10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79" y="4803647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228"/>
                </a:solidFill>
                <a:latin typeface="Times New Roman"/>
              </a:rPr>
              <a:t>· log-trace-rca: 多源证据 → top_candidate</a:t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  <a:r>
              <a:rPr sz="10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5132831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228"/>
                </a:solidFill>
                <a:latin typeface="Times New Roman"/>
              </a:rPr>
              <a:t>· remediation-plan: RCA → 风险分级方案</a:t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  <a:r>
              <a:rPr sz="10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  <a:r>
              <a:rPr sz="10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79" y="5462015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228"/>
                </a:solidFill>
                <a:latin typeface="Times New Roman"/>
              </a:rPr>
              <a:t>· model-governance: 模型回归/漂移分类</a:t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  <a:r>
              <a:rPr sz="10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79" y="5791199"/>
            <a:ext cx="4876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F2228"/>
                </a:solidFill>
                <a:latin typeface="Times New Roman"/>
              </a:rPr>
              <a:t>· recovery-verify: SLA + 队列状态验证</a:t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  <a:r>
              <a:rPr sz="1000" b="0" i="0">
                <a:solidFill>
                  <a:srgbClr val="1F2228"/>
                </a:solidFill>
                <a:latin typeface="Times New Roman"/>
              </a:rPr>
              <a:t/>
            </a:r>
            <a:r>
              <a:rPr sz="1000" b="0" i="0">
                <a:solidFill>
                  <a:srgbClr val="1F2228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五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工程落地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Engineering &amp; Safety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11 类工具</a:t>
            </a:r>
            <a:r>
              <a:rPr sz="10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4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道安全闸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自动回滚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全链路</a:t>
            </a:r>
            <a:r>
              <a:rPr sz="1000" b="1" i="0">
                <a:solidFill>
                  <a:srgbClr val="14275C"/>
                </a:solidFill>
                <a:latin typeface="Times New Roman"/>
              </a:rPr>
              <a:t> trace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Nacos Reg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mock → MCP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工具接入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结果验证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审批回滚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安全审计，四块完整闭环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05 · </a:t>
            </a:r>
            <a:r>
              <a:rPr sz="1300" b="1" i="0">
                <a:solidFill>
                  <a:srgbClr val="E85D26"/>
                </a:solidFill>
                <a:latin typeface="宋体"/>
              </a:rPr>
              <a:t>工程落地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11 类工具 · 4 道安全闸</a:t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5608319" cy="40233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438399"/>
            <a:ext cx="536447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4275C"/>
                </a:solidFill>
                <a:latin typeface="Times New Roman"/>
              </a:rPr>
              <a:t>11 类工具契约</a:t>
            </a:r>
            <a:r>
              <a:rPr sz="14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926079"/>
            <a:ext cx="536447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E727A"/>
                </a:solidFill>
                <a:latin typeface="Times New Roman"/>
              </a:rPr>
              <a:t>HTTP mock </a:t>
            </a:r>
            <a:r>
              <a:rPr sz="1000" b="0" i="0">
                <a:solidFill>
                  <a:srgbClr val="6E727A"/>
                </a:solidFill>
                <a:latin typeface="宋体"/>
              </a:rPr>
              <a:t>网关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· </a:t>
            </a:r>
            <a:r>
              <a:rPr sz="1000" b="0" i="0">
                <a:solidFill>
                  <a:srgbClr val="6E727A"/>
                </a:solidFill>
                <a:latin typeface="宋体"/>
              </a:rPr>
              <a:t>未来</a:t>
            </a:r>
            <a:r>
              <a:rPr sz="1000" b="0" i="0">
                <a:solidFill>
                  <a:srgbClr val="6E727A"/>
                </a:solidFill>
                <a:latin typeface="Times New Roman"/>
              </a:rPr>
              <a:t> MCP / Higress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39" y="3474719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3474719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list_alerts / query_metrics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39" y="3803903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9" y="3803903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search_logs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39" y="4133087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mock_traces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199" y="4133087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query_traces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439" y="4462271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mock_config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199" y="4462271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list_changes / rollback_config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39" y="4791455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199" y="4791455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list_slow_queries / create_index_plan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39" y="5120639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mock_probe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199" y="5120639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check_endpoint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39" y="5449823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mock_ticket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199" y="5449823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get_complaint / create_approval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39" y="5779007"/>
            <a:ext cx="182879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4A5FC1"/>
                </a:solidFill>
                <a:latin typeface="Times New Roman"/>
              </a:rPr>
              <a:t>mock_runbook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199" y="5779007"/>
            <a:ext cx="32918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E727A"/>
                </a:solidFill>
                <a:latin typeface="Times New Roman"/>
              </a:rPr>
              <a:t>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39839" y="2316479"/>
            <a:ext cx="2682239" cy="182879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1759" y="249935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恢复验收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59" y="298703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recovery-verify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自动检查</a:t>
            </a:r>
            <a:r>
              <a:rPr sz="1000" b="0" i="0">
                <a:solidFill>
                  <a:srgbClr val="FFFFFF"/>
                </a:solidFill>
                <a:latin typeface="Times New Roman"/>
              </a:rPr>
              <a:t> 5xx / p99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未通过自动回滚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65919" y="2316479"/>
            <a:ext cx="2682239" cy="18287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839" y="249935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审批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7839" y="298703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L3 </a:t>
            </a:r>
            <a:r>
              <a:rPr sz="1000" b="0" i="0">
                <a:solidFill>
                  <a:srgbClr val="FFFFFF"/>
                </a:solidFill>
                <a:latin typeface="宋体"/>
              </a:rPr>
              <a:t>高危必走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create_approval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人工审批兜底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9839" y="4328159"/>
            <a:ext cx="2682239" cy="18287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1759" y="451103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风险分级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759" y="499871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risk-guard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强制分级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L3 </a:t>
            </a:r>
            <a:r>
              <a:rPr sz="1000" b="0" i="0">
                <a:solidFill>
                  <a:srgbClr val="FFFFFF"/>
                </a:solidFill>
                <a:latin typeface="宋体"/>
              </a:rPr>
              <a:t>绝不自动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65919" y="4328159"/>
            <a:ext cx="2682239" cy="182879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7839" y="451103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宋体"/>
              </a:rPr>
              <a:t>审计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7839" y="4998719"/>
            <a:ext cx="243839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全链路</a:t>
            </a:r>
            <a:r>
              <a:rPr sz="1000" b="0" i="0">
                <a:solidFill>
                  <a:srgbClr val="FFFFFF"/>
                </a:solidFill>
                <a:latin typeface="Times New Roman"/>
              </a:rPr>
              <a:t> trace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Nacos Registry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FFFF"/>
                </a:solidFill>
                <a:latin typeface="宋体"/>
              </a:rPr>
              <a:t>版本</a:t>
            </a:r>
            <a:r>
              <a:rPr sz="1000" b="0" i="0">
                <a:solidFill>
                  <a:srgbClr val="FFFFFF"/>
                </a:solidFill>
                <a:latin typeface="Times New Roman"/>
              </a:rPr>
              <a:t>+</a:t>
            </a:r>
            <a:r>
              <a:rPr sz="1000" b="0" i="0">
                <a:solidFill>
                  <a:srgbClr val="FFFFFF"/>
                </a:solidFill>
                <a:latin typeface="宋体"/>
              </a:rPr>
              <a:t>策略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六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开放与复用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Reusability &amp; Open Source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Skill </a:t>
            </a:r>
            <a:r>
              <a:rPr sz="1000" b="1" i="0">
                <a:solidFill>
                  <a:srgbClr val="14275C"/>
                </a:solidFill>
                <a:latin typeface="宋体"/>
              </a:rPr>
              <a:t>复用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工具契约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Nacos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Higress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MCP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Apache 2.0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可复用的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Skill /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工具契约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/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文档，开源计划在后续阶段推进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06 · </a:t>
            </a:r>
            <a:r>
              <a:rPr sz="1300" b="1" i="0">
                <a:solidFill>
                  <a:srgbClr val="E85D26"/>
                </a:solidFill>
                <a:latin typeface="宋体"/>
              </a:rPr>
              <a:t>开放与复用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三个复用维度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77439"/>
            <a:ext cx="3657599" cy="341375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Times New Roman"/>
              </a:rPr>
              <a:t>Skill </a:t>
            </a:r>
            <a:r>
              <a:rPr sz="2200" b="1" i="0">
                <a:solidFill>
                  <a:srgbClr val="FFFFFF"/>
                </a:solidFill>
                <a:latin typeface="宋体"/>
              </a:rPr>
              <a:t>复用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7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个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Skill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可独立复用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输入输出契约清晰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内置质量门禁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可发布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Nacos Registry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59" y="2377439"/>
            <a:ext cx="3657599" cy="34137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工具契约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11 mock 工具 HTTP 接口</a:t>
            </a:r>
            <a:r>
              <a:rPr sz="1200" b="0" i="0">
                <a:solidFill>
                  <a:srgbClr val="FFFFFF"/>
                </a:solidFill>
                <a:latin typeface="宋体"/>
              </a:rPr>
              <a:t/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200" b="0" i="0">
                <a:solidFill>
                  <a:srgbClr val="FFFFFF"/>
                </a:solidFill>
                <a:latin typeface="宋体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调用模式统一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平滑升级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> MCP Server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Higress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代理统一管理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68639" y="2377439"/>
            <a:ext cx="3657599" cy="341375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2621279"/>
            <a:ext cx="3169919" cy="609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宋体"/>
              </a:rPr>
              <a:t>项目文档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3474719"/>
            <a:ext cx="316991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仓库 edge-aiops-demo</a:t>
            </a:r>
            <a:r>
              <a:rPr sz="1200" b="0" i="0">
                <a:solidFill>
                  <a:srgbClr val="FFFFFF"/>
                </a:solidFill>
                <a:latin typeface="Times New Roman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完整运行手册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宋体"/>
              </a:rPr>
              <a:t>可复现脚本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FFFFFF"/>
                </a:solidFill>
                <a:latin typeface="Times New Roman"/>
              </a:rPr>
              <a:t>Apache 2.0 </a:t>
            </a:r>
            <a:r>
              <a:rPr sz="1200" b="0" i="0">
                <a:solidFill>
                  <a:srgbClr val="FFFFFF"/>
                </a:solidFill>
                <a:latin typeface="宋体"/>
              </a:rPr>
              <a:t>协议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679" y="6035039"/>
            <a:ext cx="11216639" cy="6705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19" y="6156959"/>
            <a:ext cx="109727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注：开源计划将在大赛后续阶段逐步推进。当前以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Demo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验证与文档完善为主。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七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> </a:t>
            </a:r>
            <a:r>
              <a:rPr sz="1400" b="1" i="0">
                <a:solidFill>
                  <a:srgbClr val="E85D26"/>
                </a:solidFill>
                <a:latin typeface="宋体"/>
              </a:rPr>
              <a:t>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落地计划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Roadmap &amp; Progress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已达成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近期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中期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远期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INC-1001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INC-1002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Times New Roman"/>
              </a:rPr>
              <a:t>2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个事故闭环已验证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4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阶段路线图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> · 5 </a:t>
            </a:r>
            <a:r>
              <a:rPr sz="1400" b="0" i="0">
                <a:solidFill>
                  <a:srgbClr val="FFFFFF"/>
                </a:solidFill>
                <a:latin typeface="宋体"/>
              </a:rPr>
              <a:t>项风险控制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31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07 · </a:t>
            </a:r>
            <a:r>
              <a:rPr sz="1300" b="1" i="0">
                <a:solidFill>
                  <a:srgbClr val="E85D26"/>
                </a:solidFill>
                <a:latin typeface="宋体"/>
              </a:rPr>
              <a:t>落地计划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Times New Roman"/>
              </a:rPr>
              <a:t>4 </a:t>
            </a:r>
            <a:r>
              <a:rPr sz="2800" b="1" i="0">
                <a:solidFill>
                  <a:srgbClr val="14275C"/>
                </a:solidFill>
                <a:latin typeface="宋体"/>
              </a:rPr>
              <a:t>阶段路线图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19" y="3291839"/>
            <a:ext cx="10728959" cy="73151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706879" y="3108959"/>
            <a:ext cx="487679" cy="48767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1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4275C"/>
                </a:solidFill>
                <a:latin typeface="宋体"/>
              </a:rPr>
              <a:t>已达成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59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Times New Roman"/>
              </a:rPr>
              <a:t>2 </a:t>
            </a:r>
            <a:r>
              <a:rPr sz="1600" b="1" i="0">
                <a:solidFill>
                  <a:srgbClr val="14275C"/>
                </a:solidFill>
                <a:latin typeface="宋体"/>
              </a:rPr>
              <a:t>个事故闭环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9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/>
              </a:rPr>
              <a:t>INC-2001 / INC-2002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结构化报告</a:t>
            </a:r>
          </a:p>
        </p:txBody>
      </p:sp>
      <p:sp>
        <p:nvSpPr>
          <p:cNvPr id="43" name="Oval 42"/>
          <p:cNvSpPr/>
          <p:nvPr/>
        </p:nvSpPr>
        <p:spPr>
          <a:xfrm>
            <a:off x="4632959" y="31089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59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/>
              </a:rPr>
              <a:t>近期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567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/>
              </a:rPr>
              <a:t>真实接入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67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/>
              </a:rPr>
              <a:t>mock →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真实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MCP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云产品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API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全量替换</a:t>
            </a:r>
          </a:p>
        </p:txBody>
      </p:sp>
      <p:sp>
        <p:nvSpPr>
          <p:cNvPr id="47" name="Oval 46"/>
          <p:cNvSpPr/>
          <p:nvPr/>
        </p:nvSpPr>
        <p:spPr>
          <a:xfrm>
            <a:off x="7559039" y="3108959"/>
            <a:ext cx="487679" cy="487679"/>
          </a:xfrm>
          <a:prstGeom prst="ellipse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7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4275C"/>
                </a:solidFill>
                <a:latin typeface="宋体"/>
              </a:rPr>
              <a:t>中期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175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/>
              </a:rPr>
              <a:t>场景扩展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175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内存泄漏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/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网络分区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并发事故处置</a:t>
            </a:r>
          </a:p>
        </p:txBody>
      </p:sp>
      <p:sp>
        <p:nvSpPr>
          <p:cNvPr id="51" name="Oval 50"/>
          <p:cNvSpPr/>
          <p:nvPr/>
        </p:nvSpPr>
        <p:spPr>
          <a:xfrm>
            <a:off x="10485119" y="3108959"/>
            <a:ext cx="487679" cy="487679"/>
          </a:xfrm>
          <a:prstGeom prst="ellipse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759" y="2560319"/>
            <a:ext cx="24383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E85D26"/>
                </a:solidFill>
                <a:latin typeface="宋体"/>
              </a:rPr>
              <a:t>远期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87839" y="3840479"/>
            <a:ext cx="26822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14275C"/>
                </a:solidFill>
                <a:latin typeface="宋体"/>
              </a:rPr>
              <a:t>开源发布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87839" y="4328159"/>
            <a:ext cx="2682239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Times New Roman"/>
              </a:rPr>
              <a:t>Apache 2.0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727A"/>
                </a:solidFill>
                <a:latin typeface="宋体"/>
              </a:rPr>
              <a:t>社区共建</a:t>
            </a:r>
            <a:r>
              <a:rPr sz="1100" b="0" i="0">
                <a:solidFill>
                  <a:srgbClr val="6E727A"/>
                </a:solidFill>
                <a:latin typeface="Times New Roman"/>
              </a:rPr>
              <a:t> Skill </a:t>
            </a:r>
            <a:r>
              <a:rPr sz="1100" b="0" i="0">
                <a:solidFill>
                  <a:srgbClr val="6E727A"/>
                </a:solidFill>
                <a:latin typeface="宋体"/>
              </a:rPr>
              <a:t>生态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7679" y="5730239"/>
            <a:ext cx="11216639" cy="97535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19" y="5852159"/>
            <a:ext cx="1097279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风险控制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19" y="6193535"/>
            <a:ext cx="10972799" cy="426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228"/>
                </a:solidFill>
                <a:latin typeface="Times New Roman"/>
              </a:rPr>
              <a:t>L3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高危必审批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自动回滚兜底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全链路审计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Nacos 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版本管理</a:t>
            </a:r>
            <a:r>
              <a:rPr sz="1100" b="0" i="0">
                <a:solidFill>
                  <a:srgbClr val="1F2228"/>
                </a:solidFill>
                <a:latin typeface="Times New Roman"/>
              </a:rPr>
              <a:t> · mock/</a:t>
            </a:r>
            <a:r>
              <a:rPr sz="1100" b="0" i="0">
                <a:solidFill>
                  <a:srgbClr val="1F2228"/>
                </a:solidFill>
                <a:latin typeface="宋体"/>
              </a:rPr>
              <a:t>真实环境隔离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999" cy="1828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59" y="609599"/>
            <a:ext cx="5486399" cy="4876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2000" b="1" i="0">
                <a:solidFill>
                  <a:srgbClr val="E3E9F3"/>
                </a:solidFill>
                <a:latin typeface="Times New Roman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399" y="73151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E85D26"/>
                </a:solidFill>
                <a:latin typeface="宋体"/>
              </a:rPr>
              <a:t>第 八 章</a:t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400" b="1" i="0">
                <a:solidFill>
                  <a:srgbClr val="E85D26"/>
                </a:solidFill>
                <a:latin typeface="宋体"/>
              </a:rPr>
              <a:t/>
            </a:r>
            <a:r>
              <a:rPr sz="1400" b="1" i="0">
                <a:solidFill>
                  <a:srgbClr val="E85D26"/>
                </a:solidFill>
                <a:latin typeface="Times New Roman"/>
              </a:rPr>
              <a:t/>
            </a:r>
            <a:r>
              <a:rPr sz="14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399" y="1280159"/>
            <a:ext cx="6339839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>
                <a:solidFill>
                  <a:srgbClr val="14275C"/>
                </a:solidFill>
                <a:latin typeface="宋体"/>
              </a:rPr>
              <a:t>团队介绍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399" y="3291839"/>
            <a:ext cx="633983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727A"/>
                </a:solidFill>
                <a:latin typeface="Times New Roman"/>
              </a:rPr>
              <a:t>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399" y="3901439"/>
            <a:ext cx="731519" cy="60959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39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5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个人团队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59" y="420623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6319" y="425500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吉林大学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39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4735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AIOps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59" y="475487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6319" y="480364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LLM Agent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39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4735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Times New Roman"/>
              </a:rPr>
              <a:t>MCP 生态</a:t>
            </a:r>
            <a:r>
              <a:rPr sz="10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8595359" y="5303519"/>
            <a:ext cx="2926079" cy="438911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6319" y="5352287"/>
            <a:ext cx="280415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4275C"/>
                </a:solidFill>
                <a:latin typeface="宋体"/>
              </a:rPr>
              <a:t>全栈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913119"/>
            <a:ext cx="12191999" cy="95097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599" y="6095999"/>
            <a:ext cx="10972799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FFFFFF"/>
                </a:solidFill>
                <a:latin typeface="宋体"/>
              </a:rPr>
              <a:t>个人团队 · 吉林大学 · 大数据管理与应用</a:t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400" b="0" i="0">
                <a:solidFill>
                  <a:srgbClr val="FFFFFF"/>
                </a:solidFill>
                <a:latin typeface="宋体"/>
              </a:rPr>
              <a:t/>
            </a:r>
            <a:r>
              <a:rPr sz="14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4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97535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599" y="365759"/>
            <a:ext cx="7315199" cy="48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85D26"/>
                </a:solidFill>
                <a:latin typeface="Times New Roman"/>
              </a:rPr>
              <a:t>08 · 团队介绍</a:t>
            </a:r>
            <a:r>
              <a:rPr sz="1300" b="1" i="0">
                <a:solidFill>
                  <a:srgbClr val="E85D26"/>
                </a:solidFill>
                <a:latin typeface="宋体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99" y="1036319"/>
            <a:ext cx="10972799" cy="792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275C"/>
                </a:solidFill>
                <a:latin typeface="宋体"/>
              </a:rPr>
              <a:t>个人团队 · 一个人就是一支队伍</a:t>
            </a:r>
            <a:r>
              <a:rPr sz="2800" b="1" i="0">
                <a:solidFill>
                  <a:srgbClr val="14275C"/>
                </a:solidFill>
                <a:latin typeface="Times New Roman"/>
              </a:rPr>
              <a:t/>
            </a:r>
            <a:r>
              <a:rPr sz="2800" b="1" i="0">
                <a:solidFill>
                  <a:srgbClr val="14275C"/>
                </a:solidFill>
                <a:latin typeface="宋体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09599" y="1889759"/>
            <a:ext cx="731519" cy="48767"/>
          </a:xfrm>
          <a:prstGeom prst="rect">
            <a:avLst/>
          </a:prstGeom>
          <a:solidFill>
            <a:srgbClr val="E85D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79" y="2316479"/>
            <a:ext cx="5486399" cy="4145279"/>
          </a:xfrm>
          <a:prstGeom prst="rect">
            <a:avLst/>
          </a:prstGeom>
          <a:solidFill>
            <a:srgbClr val="14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56031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85D26"/>
                </a:solidFill>
                <a:latin typeface="Times New Roman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926079"/>
            <a:ext cx="4998719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Edge AIOps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7951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CCD3E0"/>
                </a:solidFill>
                <a:latin typeface="Times New Roman"/>
              </a:rPr>
              <a:t>─── 个人团队 · 1 人</a:t>
            </a:r>
            <a:r>
              <a:rPr sz="1200" b="0" i="0">
                <a:solidFill>
                  <a:srgbClr val="CCD3E0"/>
                </a:solidFill>
                <a:latin typeface="宋体"/>
              </a:rPr>
              <a:t/>
            </a:r>
            <a:r>
              <a:rPr sz="1200" b="0" i="0">
                <a:solidFill>
                  <a:srgbClr val="CCD3E0"/>
                </a:solidFill>
                <a:latin typeface="Times New Roman"/>
              </a:rPr>
              <a:t/>
            </a:r>
            <a:r>
              <a:rPr sz="1200" b="0" i="0">
                <a:solidFill>
                  <a:srgbClr val="CCD3E0"/>
                </a:solidFill>
                <a:latin typeface="宋体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1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学校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799" y="438911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/>
              </a:rPr>
              <a:t>吉林大学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487679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专业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799" y="487679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/>
              </a:rPr>
              <a:t>大数据管理与应用（本科）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536447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方向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799" y="536447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AIOps · LLM Agent · MCP 生态 · Edge AI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5852159"/>
            <a:ext cx="975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85D26"/>
                </a:solidFill>
                <a:latin typeface="宋体"/>
              </a:rPr>
              <a:t>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799" y="5852159"/>
            <a:ext cx="402335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宋体"/>
              </a:rPr>
              <a:t>方案 · Demo · PPT · 文档 · Skill 体系</a:t>
            </a:r>
            <a:r>
              <a:rPr sz="11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217919" y="2316479"/>
            <a:ext cx="5486399" cy="1828799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759" y="243839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技术栈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175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175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75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191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4191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191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FastAPI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207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2207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207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AgentTeams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2239" y="298703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02239" y="298703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2239" y="303580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LLM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6175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6175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175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AIOps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4191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4191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4191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Nacos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2207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2207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207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MCP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02239" y="3474719"/>
            <a:ext cx="1158239" cy="3901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02239" y="3474719"/>
            <a:ext cx="1158239" cy="390143"/>
          </a:xfrm>
          <a:prstGeom prst="rect">
            <a:avLst/>
          </a:prstGeom>
          <a:solidFill>
            <a:srgbClr val="FFFFFF"/>
          </a:solidFill>
          <a:ln w="635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02239" y="3523487"/>
            <a:ext cx="1158239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14275C"/>
                </a:solidFill>
                <a:latin typeface="Times New Roman"/>
              </a:rPr>
              <a:t>Docker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4328159"/>
            <a:ext cx="5486399" cy="2133599"/>
          </a:xfrm>
          <a:prstGeom prst="rect">
            <a:avLst/>
          </a:prstGeom>
          <a:solidFill>
            <a:srgbClr val="4A5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1759" y="4450079"/>
            <a:ext cx="4998719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85D26"/>
                </a:solidFill>
                <a:latin typeface="宋体"/>
              </a:rPr>
              <a:t>项目产出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79" y="493775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edge-aiops-demo 完整仓库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79" y="530351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2 个 Edge AIOps 事故的端到端 Demo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  <a:r>
              <a:rPr sz="1100" b="0" i="0">
                <a:solidFill>
                  <a:srgbClr val="FFFFFF"/>
                </a:solidFill>
                <a:latin typeface="Times New Roman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79" y="566927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7 个 Skill + 11 类工具契约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  <a:r>
              <a:rPr sz="1100" b="0" i="0">
                <a:solidFill>
                  <a:srgbClr val="FFFFFF"/>
                </a:solidFill>
                <a:latin typeface="Times New Roman"/>
              </a:rPr>
              <a:t/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79" y="6035039"/>
            <a:ext cx="4876799" cy="341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· 结构化事故报告模板 · 4 周落地 roadmap</a:t>
            </a:r>
            <a:r>
              <a:rPr sz="1100" b="0" i="0">
                <a:solidFill>
                  <a:srgbClr val="FFFFFF"/>
                </a:solidFill>
                <a:latin typeface="宋体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WPS 文字</Application>
  <PresentationFormat>On-screen Show (16:9)</PresentationFormat>
  <Paragraphs>230</Paragraphs>
  <Slides>19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初赛方案 PPT 内容框架模板</dc:title>
  <dc:creator>Datawhale</dc:creator>
  <dc:subject>PptxGenJS Presentation</dc:subject>
  <cp:lastModifiedBy>cindy</cp:lastModifiedBy>
  <cp:revision>5</cp:revision>
  <dcterms:created xsi:type="dcterms:W3CDTF">2026-08-01T12:03:46Z</dcterms:created>
  <dcterms:modified xsi:type="dcterms:W3CDTF">2026-08-01T12:03:46Z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3283D07A5C6A9C54A2E06D6A5481CE4C_43</vt:lpwstr>
  </property>
  <property fmtid="{D5CDD505-2E9C-101B-9397-08002B2CF9AE}" pid="3" name="KSOProductBuildVer">
    <vt:lpwstr>2052-12.1.22218.22218</vt:lpwstr>
  </property>
</Properties>
</file>