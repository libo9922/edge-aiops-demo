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78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78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4" Type="http://schemas.openxmlformats.org/officeDocument/2006/relationships/notesSlide" Target="../notesSlides/notesSlide3.xml"/><Relationship Id="rId33" Type="http://schemas.openxmlformats.org/officeDocument/2006/relationships/slideLayout" Target="../slideLayouts/slideLayout2.xml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tags" Target="../tags/tag3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63199" y="-1463039"/>
            <a:ext cx="3901439" cy="390143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828799" y="5486399"/>
            <a:ext cx="4267199" cy="426719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50719"/>
            <a:ext cx="10972799" cy="975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FFFFFF"/>
                </a:solidFill>
                <a:latin typeface="Times New Roman" panose="02020603050405020304"/>
              </a:rPr>
              <a:t>Edge AIOps</a:t>
            </a:r>
            <a:endParaRPr sz="48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19" y="2926079"/>
            <a:ext cx="10972799" cy="85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Times New Roman" panose="02020603050405020304"/>
              </a:rPr>
              <a:t>Multi-Agent Incident Response</a:t>
            </a:r>
            <a:endParaRPr sz="36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31519" y="3962399"/>
            <a:ext cx="9753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420623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E85D26"/>
                </a:solidFill>
                <a:latin typeface="宋体" panose="02010600030101010101" pitchFamily="2" charset="-122"/>
              </a:rPr>
              <a:t>Agents Decide · Operators Execute</a:t>
            </a:r>
            <a:endParaRPr sz="15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19" y="591311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Times New Roman" panose="02020603050405020304"/>
              </a:rPr>
              <a:t>Agent Infra 新智基座 · 2026</a:t>
            </a:r>
            <a:endParaRPr sz="1100" b="0" i="0">
              <a:solidFill>
                <a:srgbClr val="AEB6D6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19" y="62788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宋体" panose="02010600030101010101" pitchFamily="2" charset="-122"/>
              </a:rPr>
              <a:t>吉林大学 · 大数据管理与应用 · 个人团队</a:t>
            </a:r>
            <a:endParaRPr sz="1100" b="0" i="0">
              <a:solidFill>
                <a:srgbClr val="AEB6D6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17627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Edge AIOps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智能运维</a:t>
            </a: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 AgentTeam</a:t>
            </a:r>
            <a:endParaRPr sz="1400" b="0" i="0">
              <a:solidFill>
                <a:srgbClr val="1F2228"/>
              </a:solidFill>
              <a:latin typeface="Times New Roman" panose="020206030504050203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53458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9490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6378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09490" y="17627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面向边缘 AI / SRE 团队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事故需人工翻日志、查 Trace、审配置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OTA 回归靠资深经验恢复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112557" y="1280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68589" y="1280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15477" y="1417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8589" y="176276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4 职能 Agent + 7 决策 Skill + 工具网关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检测→归因→规划→验证 零人工闭环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agents-decide / operators-execute
HITL seam 做 L2/L3 审批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4360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0392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7280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0392" y="410972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4 LLM Agent + TeamLeader + Manager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主动跨系统取证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内置 L0-L3 风险分级
mock 与真协议 1:1 对齐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353458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09490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56378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09490" y="410972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7 个 Skill + 11 类工具契约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可发布到</a:t>
            </a: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 Nacos AI Registry</a:t>
            </a:r>
            <a:endParaRPr sz="1400" b="0" i="0">
              <a:solidFill>
                <a:srgbClr val="1F2228"/>
              </a:solidFill>
              <a:latin typeface="Times New Roman" panose="02020603050405020304"/>
            </a:endParaRPr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平滑升级</a:t>
            </a: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 MCP / Higress</a:t>
            </a:r>
            <a:endParaRPr sz="1400" b="0" i="0">
              <a:solidFill>
                <a:srgbClr val="1F2228"/>
              </a:solidFill>
              <a:latin typeface="Times New Roman" panose="020206030504050203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112557" y="35661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368589" y="3566160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15477" y="3703320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F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68589" y="4109720"/>
            <a:ext cx="3027578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0" i="0">
                <a:solidFill>
                  <a:srgbClr val="1F2228"/>
                </a:solidFill>
                <a:latin typeface="Times New Roman" panose="02020603050405020304"/>
              </a:rPr>
              <a:t>2 个 Edge AIOps 事故闭环：</a:t>
            </a:r>
            <a:endParaRPr lang="en-US" sz="1050" dirty="0"/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OTA 模型回归 + 边缘节点故障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  <a:p>
            <a:r>
              <a:rPr sz="1400" b="0" i="0">
                <a:solidFill>
                  <a:srgbClr val="1F2228"/>
                </a:solidFill>
                <a:latin typeface="宋体" panose="02010600030101010101" pitchFamily="2" charset="-122"/>
              </a:rPr>
              <a:t>结构化事故报告 + 4 周落地 roadmap</a:t>
            </a:r>
            <a:endParaRPr sz="14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0" name="Shape 8"/>
          <p:cNvSpPr/>
          <p:nvPr>
            <p:custDataLst>
              <p:tags r:id="rId5"/>
            </p:custDataLst>
          </p:nvPr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7"/>
            </p:custDataLst>
          </p:nvPr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工程</a:t>
            </a: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落地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4" name="Shape 12"/>
          <p:cNvSpPr/>
          <p:nvPr>
            <p:custDataLst>
              <p:tags r:id="rId9"/>
            </p:custDataLst>
          </p:nvPr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5" name="Shape 13"/>
          <p:cNvSpPr/>
          <p:nvPr>
            <p:custDataLst>
              <p:tags r:id="rId10"/>
            </p:custDataLst>
          </p:nvPr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6" name="Text 14"/>
          <p:cNvSpPr/>
          <p:nvPr>
            <p:custDataLst>
              <p:tags r:id="rId11"/>
            </p:custDataLst>
          </p:nvPr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>
            <p:custDataLst>
              <p:tags r:id="rId12"/>
            </p:custDataLst>
          </p:nvPr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8" name="Shape 16"/>
          <p:cNvSpPr/>
          <p:nvPr>
            <p:custDataLst>
              <p:tags r:id="rId13"/>
            </p:custDataLst>
          </p:nvPr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9" name="Shape 17"/>
          <p:cNvSpPr/>
          <p:nvPr>
            <p:custDataLst>
              <p:tags r:id="rId14"/>
            </p:custDataLst>
          </p:nvPr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>
            <p:custDataLst>
              <p:tags r:id="rId16"/>
            </p:custDataLst>
          </p:nvPr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开源与</a:t>
            </a: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复用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2" name="Shape 20"/>
          <p:cNvSpPr/>
          <p:nvPr>
            <p:custDataLst>
              <p:tags r:id="rId17"/>
            </p:custDataLst>
          </p:nvPr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>
            <p:custDataLst>
              <p:tags r:id="rId18"/>
            </p:custDataLst>
          </p:nvPr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4" name="Text 22"/>
          <p:cNvSpPr/>
          <p:nvPr>
            <p:custDataLst>
              <p:tags r:id="rId19"/>
            </p:custDataLst>
          </p:nvPr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>
            <p:custDataLst>
              <p:tags r:id="rId20"/>
            </p:custDataLst>
          </p:nvPr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6" name="Shape 24"/>
          <p:cNvSpPr/>
          <p:nvPr>
            <p:custDataLst>
              <p:tags r:id="rId21"/>
            </p:custDataLst>
          </p:nvPr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2"/>
            </p:custDataLst>
          </p:nvPr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3"/>
            </p:custDataLst>
          </p:nvPr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>
            <p:custDataLst>
              <p:tags r:id="rId24"/>
            </p:custDataLst>
          </p:nvPr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落地计划</a:t>
            </a:r>
            <a:endParaRPr 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30" name="Shape 28"/>
          <p:cNvSpPr/>
          <p:nvPr>
            <p:custDataLst>
              <p:tags r:id="rId25"/>
            </p:custDataLst>
          </p:nvPr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1" name="Shape 29"/>
          <p:cNvSpPr/>
          <p:nvPr>
            <p:custDataLst>
              <p:tags r:id="rId26"/>
            </p:custDataLst>
          </p:nvPr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>
            <p:custDataLst>
              <p:tags r:id="rId27"/>
            </p:custDataLst>
          </p:nvPr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>
            <p:custDataLst>
              <p:tags r:id="rId28"/>
            </p:custDataLst>
          </p:nvPr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Skill 体系</a:t>
            </a:r>
            <a:endParaRPr lang="zh-CN" altLang="en-US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4" name="Shape 32"/>
          <p:cNvSpPr/>
          <p:nvPr>
            <p:custDataLst>
              <p:tags r:id="rId29"/>
            </p:custDataLst>
          </p:nvPr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5" name="Shape 33"/>
          <p:cNvSpPr/>
          <p:nvPr>
            <p:custDataLst>
              <p:tags r:id="rId30"/>
            </p:custDataLst>
          </p:nvPr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6" name="Text 34"/>
          <p:cNvSpPr/>
          <p:nvPr>
            <p:custDataLst>
              <p:tags r:id="rId31"/>
            </p:custDataLst>
          </p:nvPr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>
            <p:custDataLst>
              <p:tags r:id="rId32"/>
            </p:custDataLst>
          </p:nvPr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团队介绍</a:t>
            </a:r>
            <a:endParaRPr lang="en-US" altLang="zh-CN" sz="12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01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一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场景与价值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Scene &amp; Value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告警归并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根因定位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边缘验收师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全链路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提效</a:t>
            </a: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 16×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从真实生产事故出发，看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AgentTeams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在运维场景的实际价值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01 · 场景与价值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 panose="02010600030101010101" pitchFamily="2" charset="-122"/>
              </a:rPr>
              <a:t>边缘 + 模型 + OTA · 一个协同方案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255519"/>
            <a:ext cx="5547359" cy="36575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377439"/>
            <a:ext cx="5120639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 panose="02010600030101010101" pitchFamily="2" charset="-122"/>
              </a:rPr>
              <a:t>场景 01 · INC-2001</a:t>
            </a:r>
            <a:endParaRPr sz="1200" b="1" i="0">
              <a:solidFill>
                <a:srgbClr val="E85D26"/>
              </a:solidFill>
              <a:latin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1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 panose="02010600030101010101" pitchFamily="2" charset="-122"/>
              </a:rPr>
              <a:t>OTA 模型回归</a:t>
            </a:r>
            <a:endParaRPr sz="22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19" y="3246120"/>
            <a:ext cx="512063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OTA 把 resnet50 v3.2.1 推到杭州集群（无 canary）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 panose="02010600030101010101" pitchFamily="2" charset="-122"/>
              </a:rPr>
              <a:t>accuracy 0.92 → 0.71 / p99 420 → 1450ms</a:t>
            </a:r>
            <a:endParaRPr sz="13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Agent 自动：归并告警 → 多源归因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→ quarantine_node L1 + rollback_model L2 待审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 panose="02010600030101010101" pitchFamily="2" charset="-122"/>
              </a:rPr>
              <a:t>结果：accuracy 0.91 / p99 420ms / fleet healthy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56959" y="2255519"/>
            <a:ext cx="5547359" cy="3657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799" y="2377439"/>
            <a:ext cx="5120639" cy="31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 panose="02010600030101010101" pitchFamily="2" charset="-122"/>
              </a:rPr>
              <a:t>场景 02 · INC-2002</a:t>
            </a:r>
            <a:endParaRPr sz="1200" b="1" i="0">
              <a:solidFill>
                <a:srgbClr val="E85D26"/>
              </a:solidFill>
              <a:latin typeface="Times New Roman" panose="020206030504050203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79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 panose="02010600030101010101" pitchFamily="2" charset="-122"/>
              </a:rPr>
              <a:t>边缘节点故障</a:t>
            </a:r>
            <a:endParaRPr sz="22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799" y="3246120"/>
            <a:ext cx="512063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 panose="02010600030101010101" pitchFamily="2" charset="-122"/>
              </a:rPr>
              <a:t>edge-shanghai-02 不可达 + edge-shanghai-05 GPU 热临界</a:t>
            </a:r>
            <a:endParaRPr sz="13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 panose="02010600030101010101" pitchFamily="2" charset="-122"/>
              </a:rPr>
              <a:t>throughput 12 qps / latency 1850ms</a:t>
            </a:r>
            <a:endParaRPr sz="13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Agent 自动：多源归因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→ quarantine_node + throttle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Times New Roman" panose="02020603050405020304"/>
              </a:rPr>
              <a:t>→ verify 端点恢复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宋体" panose="02010600030101010101" pitchFamily="2" charset="-122"/>
              </a:rPr>
              <a:t>结果：fleet healthy / SLO 达标</a:t>
            </a:r>
            <a:endParaRPr sz="1300" b="0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26079" y="5209031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Times New Roman" panose="02020603050405020304"/>
              </a:rPr>
              <a:t>accuracy</a:t>
            </a:r>
            <a:endParaRPr sz="11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02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二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方案总览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Architecture Overview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AgentTeams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qwenpow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HTTP </a:t>
            </a: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网关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Nacos Reg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驱动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零人工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端到端架构：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6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阶段闭环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+ 4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关键技术选型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02 · 方案总览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 panose="02010600030101010101" pitchFamily="2" charset="-122"/>
              </a:rPr>
              <a:t>端到端 4 阶段流程 + HITL seam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39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6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1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876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接收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876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告警归并</a:t>
            </a:r>
            <a:endParaRPr sz="10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Right Arrow 40"/>
          <p:cNvSpPr/>
          <p:nvPr/>
        </p:nvSpPr>
        <p:spPr>
          <a:xfrm>
            <a:off x="188975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80415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3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2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37743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分析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37743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根因定位</a:t>
            </a:r>
            <a:endParaRPr sz="10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46" name="Right Arrow 45"/>
          <p:cNvSpPr/>
          <p:nvPr/>
        </p:nvSpPr>
        <p:spPr>
          <a:xfrm>
            <a:off x="377951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9391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719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3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26719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决策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26719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方案规划</a:t>
            </a:r>
            <a:endParaRPr sz="10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51" name="Right Arrow 50"/>
          <p:cNvSpPr/>
          <p:nvPr/>
        </p:nvSpPr>
        <p:spPr>
          <a:xfrm>
            <a:off x="566927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8367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695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4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695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风险分级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5695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低危执行</a:t>
            </a:r>
            <a:endParaRPr sz="10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56" name="Right Arrow 55"/>
          <p:cNvSpPr/>
          <p:nvPr/>
        </p:nvSpPr>
        <p:spPr>
          <a:xfrm>
            <a:off x="755903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7343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5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04671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恢复验收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04671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边缘验收师</a:t>
            </a:r>
            <a:endParaRPr sz="10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944879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6319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364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6</a:t>
            </a:r>
            <a:endParaRPr sz="22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9364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 panose="02010600030101010101" pitchFamily="2" charset="-122"/>
              </a:rPr>
              <a:t>审计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9364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审计</a:t>
            </a: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 trace</a:t>
            </a:r>
            <a:endParaRPr sz="10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8767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959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 panose="02020603050405020304"/>
              </a:rPr>
              <a:t>AgentTeams</a:t>
            </a:r>
            <a:endParaRPr sz="16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0959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 panose="02010600030101010101" pitchFamily="2" charset="-122"/>
              </a:rPr>
              <a:t>多</a:t>
            </a:r>
            <a:r>
              <a:rPr sz="1000" b="0" i="0">
                <a:solidFill>
                  <a:srgbClr val="CCD3E0"/>
                </a:solidFill>
                <a:latin typeface="Times New Roman" panose="02020603050405020304"/>
              </a:rPr>
              <a:t> Agent </a:t>
            </a:r>
            <a:r>
              <a:rPr sz="1000" b="0" i="0">
                <a:solidFill>
                  <a:srgbClr val="CCD3E0"/>
                </a:solidFill>
                <a:latin typeface="宋体" panose="02010600030101010101" pitchFamily="2" charset="-122"/>
              </a:rPr>
              <a:t>编排框架</a:t>
            </a:r>
            <a:endParaRPr sz="10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352799" y="4876799"/>
            <a:ext cx="2621279" cy="12191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7471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 panose="02020603050405020304"/>
              </a:rPr>
              <a:t>qwenpow</a:t>
            </a:r>
            <a:endParaRPr sz="16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47471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 panose="02020603050405020304"/>
              </a:rPr>
              <a:t>LLM </a:t>
            </a:r>
            <a:r>
              <a:rPr sz="1000" b="0" i="0">
                <a:solidFill>
                  <a:srgbClr val="CCD3E0"/>
                </a:solidFill>
                <a:latin typeface="宋体" panose="02010600030101010101" pitchFamily="2" charset="-122"/>
              </a:rPr>
              <a:t>推理运行时</a:t>
            </a:r>
            <a:endParaRPr sz="10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17919" y="4876799"/>
            <a:ext cx="2621279" cy="12191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3983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 panose="02020603050405020304"/>
              </a:rPr>
              <a:t>HTTP </a:t>
            </a:r>
            <a:r>
              <a:rPr sz="1600" b="1" i="0">
                <a:solidFill>
                  <a:srgbClr val="FFFFFF"/>
                </a:solidFill>
                <a:latin typeface="宋体" panose="02010600030101010101" pitchFamily="2" charset="-122"/>
              </a:rPr>
              <a:t>网关</a:t>
            </a:r>
            <a:endParaRPr sz="16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33983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 panose="02010600030101010101" pitchFamily="2" charset="-122"/>
              </a:rPr>
              <a:t>工具接入层</a:t>
            </a:r>
            <a:endParaRPr sz="10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908303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0495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 panose="02020603050405020304"/>
              </a:rPr>
              <a:t>Nacos</a:t>
            </a:r>
            <a:endParaRPr sz="16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20495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 panose="02020603050405020304"/>
              </a:rPr>
              <a:t>AI Registry </a:t>
            </a:r>
            <a:r>
              <a:rPr sz="1000" b="0" i="0">
                <a:solidFill>
                  <a:srgbClr val="CCD3E0"/>
                </a:solidFill>
                <a:latin typeface="宋体" panose="02010600030101010101" pitchFamily="2" charset="-122"/>
              </a:rPr>
              <a:t>注册中心</a:t>
            </a:r>
            <a:endParaRPr sz="10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87679" y="640079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调用模式：</a:t>
            </a: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POST /tools/{scenario}/{tool}.{function_name} · mock </a:t>
            </a: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工具平滑升级</a:t>
            </a: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 MCP / Higress MCP</a:t>
            </a:r>
            <a:endParaRPr sz="10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03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三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多</a:t>
            </a:r>
            <a:r>
              <a:rPr sz="5600" b="1" i="0">
                <a:solidFill>
                  <a:srgbClr val="14275C"/>
                </a:solidFill>
                <a:latin typeface="Times New Roman" panose="02020603050405020304"/>
              </a:rPr>
              <a:t> Agent</a:t>
            </a:r>
            <a:endParaRPr sz="56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Multi-Agent Collaboration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TeamLeader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Alert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RCA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EdgeOrchestrator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EdgeSentry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L0-L3 分级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5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个角色分工明确：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TeamLeader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统一调度，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4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个业务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Agent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串行协作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03 · 多 Agent 协同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 panose="02020603050405020304"/>
              </a:rPr>
              <a:t>4 业务 Agent + 1 TeamLeader + 1 Manager</a:t>
            </a:r>
            <a:endParaRPr sz="28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438399"/>
            <a:ext cx="2072639" cy="304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119" y="21945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359" y="2255519"/>
            <a:ext cx="12191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 panose="02020603050405020304"/>
              </a:rPr>
              <a:t>LEAD</a:t>
            </a:r>
            <a:endParaRPr sz="9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39" y="262127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 panose="02020603050405020304"/>
              </a:rPr>
              <a:t>TeamLeader</a:t>
            </a:r>
            <a:endParaRPr sz="13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39" y="316991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 panose="02010600030101010101" pitchFamily="2" charset="-122"/>
              </a:rPr>
              <a:t>调度中枢</a:t>
            </a:r>
            <a:endParaRPr sz="10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39" y="365759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统一编排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Manager 动态调度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DAG-ready workflow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779775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0735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 panose="02020603050405020304"/>
              </a:rPr>
              <a:t>EdgeSentinel</a:t>
            </a:r>
            <a:endParaRPr sz="13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40735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 panose="02010600030101010101" pitchFamily="2" charset="-122"/>
              </a:rPr>
              <a:t>边缘哨兵</a:t>
            </a:r>
            <a:endParaRPr sz="10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0735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边缘+模型+OTA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三信号融合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输出事故候选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71871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1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 panose="02020603050405020304"/>
              </a:rPr>
              <a:t>EdgeDiagnostician</a:t>
            </a:r>
            <a:endParaRPr sz="13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32831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 panose="02010600030101010101" pitchFamily="2" charset="-122"/>
              </a:rPr>
              <a:t>边缘诊断师</a:t>
            </a:r>
            <a:endParaRPr sz="10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32831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日志+Trace+OTA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模型遥测+Runbook RAG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多源归因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363967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 panose="02020603050405020304"/>
              </a:rPr>
              <a:t>EdgeOrchestrator</a:t>
            </a:r>
            <a:endParaRPr sz="13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24927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 panose="02010600030101010101" pitchFamily="2" charset="-122"/>
              </a:rPr>
              <a:t>边缘编排师</a:t>
            </a:r>
            <a:endParaRPr sz="10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424927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生成方案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Times New Roman" panose="02020603050405020304"/>
              </a:rPr>
              <a:t>L0-L3 分级</a:t>
            </a:r>
            <a:endParaRPr sz="1200" b="0" i="0">
              <a:solidFill>
                <a:srgbClr val="CCD3E0"/>
              </a:solidFill>
              <a:latin typeface="Times New Roman" panose="02020603050405020304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HITL seam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656063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7023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 panose="02020603050405020304"/>
              </a:rPr>
              <a:t>EdgeSentry</a:t>
            </a:r>
            <a:endParaRPr sz="13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717023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 panose="02010600030101010101" pitchFamily="2" charset="-122"/>
              </a:rPr>
              <a:t>边缘验收师</a:t>
            </a:r>
            <a:endParaRPr sz="10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717023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SLA + 队列状态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request verification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宋体" panose="02010600030101010101" pitchFamily="2" charset="-122"/>
              </a:rPr>
              <a:t>postmortem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87679" y="5913119"/>
            <a:ext cx="11216639" cy="79247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19" y="59740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状态流转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1519" y="6315455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4275C"/>
                </a:solidFill>
                <a:latin typeface="Times New Roman" panose="02020603050405020304"/>
              </a:rPr>
              <a:t>event → triaging → root_caused → planned → approved → executing → verifying → resolved → reported</a:t>
            </a:r>
            <a:endParaRPr sz="13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04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四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Times New Roman" panose="02020603050405020304"/>
              </a:rPr>
              <a:t>Skill </a:t>
            </a: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体系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Skill Engineering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alert-fusion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impact-mapping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log-trace-rca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remediate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auto-exec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verify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486399" y="585215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47359" y="590092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risk-guard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7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个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Skill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覆盖全流程，每个都有明确的输入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/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输出契约与失败处理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04 · Skill 体系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 panose="02020603050405020304"/>
              </a:rPr>
              <a:t>7 个决策类 Skill · 1 个示例规格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3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alert-fusion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3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告警融合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097023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impact-mapping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5798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影响映射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706367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7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log-trace-rca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67327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多源归因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15711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1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remediation-plan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76671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修复计划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925055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6015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risk-guard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86015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风险分级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53439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5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recovery-verify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9535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 panose="02010600030101010101" pitchFamily="2" charset="-122"/>
              </a:rPr>
              <a:t>恢复验收</a:t>
            </a:r>
            <a:endParaRPr sz="9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0143743" y="2316479"/>
            <a:ext cx="1511807" cy="85343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 panose="02020603050405020304"/>
              </a:rPr>
              <a:t>risk-guard</a:t>
            </a:r>
            <a:endParaRPr sz="10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20470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85D26"/>
                </a:solidFill>
                <a:latin typeface="宋体" panose="02010600030101010101" pitchFamily="2" charset="-122"/>
              </a:rPr>
              <a:t>风险分级</a:t>
            </a:r>
            <a:endParaRPr sz="900" b="0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87679" y="3474719"/>
            <a:ext cx="5608319" cy="28041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19" y="359663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Times New Roman" panose="02020603050405020304"/>
              </a:rPr>
              <a:t>★ risk-guard 完整规格</a:t>
            </a:r>
            <a:endParaRPr sz="11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1519" y="396239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宋体" panose="02010600030101010101" pitchFamily="2" charset="-122"/>
              </a:rPr>
              <a:t>风险守卫（L0-L3 分级）</a:t>
            </a:r>
            <a:endParaRPr sz="13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1519" y="4450079"/>
            <a:ext cx="5120639" cy="1706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【输入】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remediation_plan {action_type,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target_resource, action_params, impact}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【输出】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risk_level: L0/L1/L2/L3,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required_approval, risk_reason, mitigation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【依赖】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auto-executor, remediation-plan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【失败】解析失败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/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未知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 action → 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一律返回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 L3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339839" y="3474719"/>
            <a:ext cx="5364479" cy="28041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79" y="3657599"/>
            <a:ext cx="4876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 panose="02010600030101010101" pitchFamily="2" charset="-122"/>
              </a:rPr>
              <a:t>其余 6 个 Skill 契约</a:t>
            </a:r>
            <a:endParaRPr sz="11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83679" y="414527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alert-fusion: 多类信号 → 事故候选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583679" y="4474463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impact-mapping: 事故 → 节点+SLO 影响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583679" y="4803647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log-trace-rca: 多源证据 → top_candidate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83679" y="5132831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remediation-plan: RCA → 风险分级方案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583679" y="5462015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model-governance: 模型回归/漂移分类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83679" y="579119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228"/>
                </a:solidFill>
                <a:latin typeface="Times New Roman" panose="02020603050405020304"/>
              </a:rPr>
              <a:t>· recovery-verify: SLA + 队列状态验证</a:t>
            </a:r>
            <a:endParaRPr sz="12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05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五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工程落地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Engineering &amp; Safety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11 类工具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4 </a:t>
            </a: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道安全闸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自动回滚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全链路</a:t>
            </a: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 trace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Nacos Reg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mock → MCP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工具接入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结果验证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审批回滚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安全审计，四块完整闭环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05 · </a:t>
            </a:r>
            <a:r>
              <a:rPr sz="1300" b="1" i="0">
                <a:solidFill>
                  <a:srgbClr val="E85D26"/>
                </a:solidFill>
                <a:latin typeface="宋体" panose="02010600030101010101" pitchFamily="2" charset="-122"/>
              </a:rPr>
              <a:t>工程落地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 panose="02020603050405020304"/>
              </a:rPr>
              <a:t>11 类工具 · 4 道安全闸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608319" cy="4023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438399"/>
            <a:ext cx="536447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Times New Roman" panose="02020603050405020304"/>
              </a:rPr>
              <a:t>11 类工具契约</a:t>
            </a:r>
            <a:endParaRPr sz="14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53644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HTTP mock </a:t>
            </a: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网关</a:t>
            </a: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 · </a:t>
            </a:r>
            <a:r>
              <a:rPr sz="1000" b="0" i="0">
                <a:solidFill>
                  <a:srgbClr val="6E727A"/>
                </a:solidFill>
                <a:latin typeface="宋体" panose="02010600030101010101" pitchFamily="2" charset="-122"/>
              </a:rPr>
              <a:t>未来</a:t>
            </a:r>
            <a:r>
              <a:rPr sz="1000" b="0" i="0">
                <a:solidFill>
                  <a:srgbClr val="6E727A"/>
                </a:solidFill>
                <a:latin typeface="Times New Roman" panose="02020603050405020304"/>
              </a:rPr>
              <a:t> MCP / Higress</a:t>
            </a:r>
            <a:endParaRPr sz="10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3439" y="347471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mock_monitoring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43199" y="347471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list_alerts / query_metrics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3439" y="380390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mock_logs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3199" y="380390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search_logs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3439" y="413308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mock_traces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43199" y="413308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query_traces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3439" y="4462271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mock_config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743199" y="4462271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list_changes / rollback_config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3439" y="4791455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mock_database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43199" y="4791455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list_slow_queries / create_index_plan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3439" y="512063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mock_probe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43199" y="512063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check_endpoint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3439" y="544982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mock_ticket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3199" y="544982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get_complaint / create_approval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3439" y="577900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 panose="02020603050405020304"/>
              </a:rPr>
              <a:t>mock_runbook</a:t>
            </a:r>
            <a:endParaRPr sz="1000" b="1" i="0">
              <a:solidFill>
                <a:srgbClr val="4A5FC1"/>
              </a:solidFill>
              <a:latin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743199" y="577900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 panose="02020603050405020304"/>
              </a:rPr>
              <a:t>search</a:t>
            </a:r>
            <a:endParaRPr sz="9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339839" y="2316479"/>
            <a:ext cx="2682239" cy="18287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75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 panose="02010600030101010101" pitchFamily="2" charset="-122"/>
              </a:rPr>
              <a:t>恢复验收</a:t>
            </a:r>
            <a:endParaRPr sz="15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6175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recovery-verify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自动检查</a:t>
            </a: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 5xx / p99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未通过自动回滚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265919" y="231647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83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 panose="02010600030101010101" pitchFamily="2" charset="-122"/>
              </a:rPr>
              <a:t>审批</a:t>
            </a:r>
            <a:endParaRPr sz="15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38783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高危必走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create_approval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人工审批兜底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339839" y="4328159"/>
            <a:ext cx="2682239" cy="18287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75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 panose="02010600030101010101" pitchFamily="2" charset="-122"/>
              </a:rPr>
              <a:t>风险分级</a:t>
            </a:r>
            <a:endParaRPr sz="15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6175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risk-guard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强制分级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绝不自动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265919" y="432815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783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 panose="02010600030101010101" pitchFamily="2" charset="-122"/>
              </a:rPr>
              <a:t>审计</a:t>
            </a:r>
            <a:endParaRPr sz="15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38783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全链路</a:t>
            </a: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 trace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Nacos Registry</a:t>
            </a:r>
            <a:endParaRPr sz="10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版本</a:t>
            </a:r>
            <a:r>
              <a:rPr sz="1000" b="0" i="0">
                <a:solidFill>
                  <a:srgbClr val="FFFFFF"/>
                </a:solidFill>
                <a:latin typeface="Times New Roman" panose="02020603050405020304"/>
              </a:rPr>
              <a:t>+</a:t>
            </a:r>
            <a:r>
              <a:rPr sz="1000" b="0" i="0">
                <a:solidFill>
                  <a:srgbClr val="FFFFFF"/>
                </a:solidFill>
                <a:latin typeface="宋体" panose="02010600030101010101" pitchFamily="2" charset="-122"/>
              </a:rPr>
              <a:t>策略</a:t>
            </a:r>
            <a:endParaRPr sz="10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06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六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开放与复用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Reusability &amp; Open Source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复用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工具契约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Nacos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Higress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MCP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Apache 2.0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可复用的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Skill /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工具契约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/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文档，开源计划在后续阶段推进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06 · </a:t>
            </a:r>
            <a:r>
              <a:rPr sz="1300" b="1" i="0">
                <a:solidFill>
                  <a:srgbClr val="E85D26"/>
                </a:solidFill>
                <a:latin typeface="宋体" panose="02010600030101010101" pitchFamily="2" charset="-122"/>
              </a:rPr>
              <a:t>开放与复用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 panose="02010600030101010101" pitchFamily="2" charset="-122"/>
              </a:rPr>
              <a:t>三个复用维度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77439"/>
            <a:ext cx="3657599" cy="34137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 panose="02020603050405020304"/>
              </a:rPr>
              <a:t>Skill </a:t>
            </a:r>
            <a:r>
              <a:rPr sz="2200" b="1" i="0">
                <a:solidFill>
                  <a:srgbClr val="FFFFFF"/>
                </a:solidFill>
                <a:latin typeface="宋体" panose="02010600030101010101" pitchFamily="2" charset="-122"/>
              </a:rPr>
              <a:t>复用</a:t>
            </a:r>
            <a:endParaRPr sz="22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1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7 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个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 Skill 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可独立复用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输入输出契约清晰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内置质量门禁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可发布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 Nacos Registry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28159" y="2377439"/>
            <a:ext cx="3657599" cy="34137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 panose="02010600030101010101" pitchFamily="2" charset="-122"/>
              </a:rPr>
              <a:t>工具契约</a:t>
            </a:r>
            <a:endParaRPr sz="22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199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11 mock 工具 HTTP 接口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调用模式统一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平滑升级</a:t>
            </a: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 MCP Server</a:t>
            </a:r>
            <a:endParaRPr sz="1200" b="0" i="0">
              <a:solidFill>
                <a:srgbClr val="FFFFFF"/>
              </a:solidFill>
              <a:latin typeface="Times New Roman" panose="02020603050405020304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Higress 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代理统一管理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168639" y="2377439"/>
            <a:ext cx="3657599" cy="341375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 panose="02010600030101010101" pitchFamily="2" charset="-122"/>
              </a:rPr>
              <a:t>项目文档</a:t>
            </a:r>
            <a:endParaRPr sz="2200" b="1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仓库 edge-aiops-demo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完整运行手册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可复现脚本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 panose="02020603050405020304"/>
              </a:rPr>
              <a:t>Apache 2.0 </a:t>
            </a:r>
            <a:r>
              <a:rPr sz="1200" b="0" i="0">
                <a:solidFill>
                  <a:srgbClr val="FFFFFF"/>
                </a:solidFill>
                <a:latin typeface="宋体" panose="02010600030101010101" pitchFamily="2" charset="-122"/>
              </a:rPr>
              <a:t>协议</a:t>
            </a:r>
            <a:endParaRPr sz="12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87679" y="6035039"/>
            <a:ext cx="11216639" cy="6705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19" y="615695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注：开源计划将在大赛后续阶段逐步推进。当前以</a:t>
            </a: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 Demo </a:t>
            </a: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验证与文档完善为主。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07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七</a:t>
            </a:r>
            <a:r>
              <a:rPr sz="1400" b="1" i="0">
                <a:solidFill>
                  <a:srgbClr val="E85D26"/>
                </a:solidFill>
                <a:latin typeface="Times New Roman" panose="02020603050405020304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落地计划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Roadmap &amp; Progress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已达成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近期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中期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远期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INC-2001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INC-2002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2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个事故闭环已验证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· 4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阶段路线图</a:t>
            </a:r>
            <a:r>
              <a:rPr sz="1400" b="0" i="0">
                <a:solidFill>
                  <a:srgbClr val="FFFFFF"/>
                </a:solidFill>
                <a:latin typeface="Times New Roman" panose="02020603050405020304"/>
              </a:rPr>
              <a:t> · 5 </a:t>
            </a: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项风险控制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07 · </a:t>
            </a:r>
            <a:r>
              <a:rPr sz="1300" b="1" i="0">
                <a:solidFill>
                  <a:srgbClr val="E85D26"/>
                </a:solidFill>
                <a:latin typeface="宋体" panose="02010600030101010101" pitchFamily="2" charset="-122"/>
              </a:rPr>
              <a:t>落地计划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 panose="02020603050405020304"/>
              </a:rPr>
              <a:t>4 </a:t>
            </a:r>
            <a:r>
              <a:rPr sz="2800" b="1" i="0">
                <a:solidFill>
                  <a:srgbClr val="14275C"/>
                </a:solidFill>
                <a:latin typeface="宋体" panose="02010600030101010101" pitchFamily="2" charset="-122"/>
              </a:rPr>
              <a:t>阶段路线图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19" y="3291839"/>
            <a:ext cx="107289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70687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1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 panose="02010600030101010101" pitchFamily="2" charset="-122"/>
              </a:rPr>
              <a:t>已达成</a:t>
            </a:r>
            <a:endParaRPr sz="12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0959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Times New Roman" panose="02020603050405020304"/>
              </a:rPr>
              <a:t>2 </a:t>
            </a:r>
            <a:r>
              <a:rPr sz="1600" b="1" i="0">
                <a:solidFill>
                  <a:srgbClr val="14275C"/>
                </a:solidFill>
                <a:latin typeface="宋体" panose="02010600030101010101" pitchFamily="2" charset="-122"/>
              </a:rPr>
              <a:t>个事故闭环</a:t>
            </a:r>
            <a:endParaRPr sz="1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959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INC-2001 / INC-2002</a:t>
            </a:r>
            <a:endParaRPr sz="1100" b="0" i="0">
              <a:solidFill>
                <a:srgbClr val="6E727A"/>
              </a:solidFill>
              <a:latin typeface="Times New Roman" panose="02020603050405020304"/>
            </a:endParaRP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结构化报告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463295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9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 panose="02010600030101010101" pitchFamily="2" charset="-122"/>
              </a:rPr>
              <a:t>近期</a:t>
            </a:r>
            <a:endParaRPr sz="12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53567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 panose="02010600030101010101" pitchFamily="2" charset="-122"/>
              </a:rPr>
              <a:t>真实接入</a:t>
            </a:r>
            <a:endParaRPr sz="1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53567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mock → </a:t>
            </a: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真实</a:t>
            </a: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 MCP</a:t>
            </a:r>
            <a:endParaRPr sz="1100" b="0" i="0">
              <a:solidFill>
                <a:srgbClr val="6E727A"/>
              </a:solidFill>
              <a:latin typeface="Times New Roman" panose="02020603050405020304"/>
            </a:endParaRP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云产品</a:t>
            </a: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 API </a:t>
            </a: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全量替换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55903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7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 panose="02010600030101010101" pitchFamily="2" charset="-122"/>
              </a:rPr>
              <a:t>中期</a:t>
            </a:r>
            <a:endParaRPr sz="12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46175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 panose="02010600030101010101" pitchFamily="2" charset="-122"/>
              </a:rPr>
              <a:t>场景扩展</a:t>
            </a:r>
            <a:endParaRPr sz="1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46175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内存泄漏</a:t>
            </a: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 / </a:t>
            </a: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网络分区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并发事故处置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1048511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5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 panose="02010600030101010101" pitchFamily="2" charset="-122"/>
              </a:rPr>
              <a:t>远期</a:t>
            </a:r>
            <a:endParaRPr sz="12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38783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 panose="02010600030101010101" pitchFamily="2" charset="-122"/>
              </a:rPr>
              <a:t>开源发布</a:t>
            </a:r>
            <a:endParaRPr sz="1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8783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Apache 2.0</a:t>
            </a:r>
            <a:endParaRPr sz="1100" b="0" i="0">
              <a:solidFill>
                <a:srgbClr val="6E727A"/>
              </a:solidFill>
              <a:latin typeface="Times New Roman" panose="02020603050405020304"/>
            </a:endParaRP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社区共建</a:t>
            </a:r>
            <a:r>
              <a:rPr sz="1100" b="0" i="0">
                <a:solidFill>
                  <a:srgbClr val="6E727A"/>
                </a:solidFill>
                <a:latin typeface="Times New Roman" panose="02020603050405020304"/>
              </a:rPr>
              <a:t> Skill </a:t>
            </a:r>
            <a:r>
              <a:rPr sz="1100" b="0" i="0">
                <a:solidFill>
                  <a:srgbClr val="6E727A"/>
                </a:solidFill>
                <a:latin typeface="宋体" panose="02010600030101010101" pitchFamily="2" charset="-122"/>
              </a:rPr>
              <a:t>生态</a:t>
            </a:r>
            <a:endParaRPr sz="1100" b="0" i="0">
              <a:solidFill>
                <a:srgbClr val="6E727A"/>
              </a:solidFill>
              <a:latin typeface="宋体" panose="02010600030101010101" pitchFamily="2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87679" y="5730239"/>
            <a:ext cx="11216639" cy="975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19" y="585215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 panose="02010600030101010101" pitchFamily="2" charset="-122"/>
              </a:rPr>
              <a:t>风险控制</a:t>
            </a:r>
            <a:endParaRPr sz="11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1519" y="6193535"/>
            <a:ext cx="109727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228"/>
                </a:solidFill>
                <a:latin typeface="Times New Roman" panose="02020603050405020304"/>
              </a:rPr>
              <a:t>L3 </a:t>
            </a:r>
            <a:r>
              <a:rPr sz="1100" b="0" i="0">
                <a:solidFill>
                  <a:srgbClr val="1F2228"/>
                </a:solidFill>
                <a:latin typeface="宋体" panose="02010600030101010101" pitchFamily="2" charset="-122"/>
              </a:rPr>
              <a:t>高危必审批</a:t>
            </a:r>
            <a:r>
              <a:rPr sz="1100" b="0" i="0">
                <a:solidFill>
                  <a:srgbClr val="1F2228"/>
                </a:solidFill>
                <a:latin typeface="Times New Roman" panose="02020603050405020304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 panose="02010600030101010101" pitchFamily="2" charset="-122"/>
              </a:rPr>
              <a:t>自动回滚兜底</a:t>
            </a:r>
            <a:r>
              <a:rPr sz="1100" b="0" i="0">
                <a:solidFill>
                  <a:srgbClr val="1F2228"/>
                </a:solidFill>
                <a:latin typeface="Times New Roman" panose="02020603050405020304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 panose="02010600030101010101" pitchFamily="2" charset="-122"/>
              </a:rPr>
              <a:t>全链路审计</a:t>
            </a:r>
            <a:r>
              <a:rPr sz="1100" b="0" i="0">
                <a:solidFill>
                  <a:srgbClr val="1F2228"/>
                </a:solidFill>
                <a:latin typeface="Times New Roman" panose="02020603050405020304"/>
              </a:rPr>
              <a:t> · Nacos </a:t>
            </a:r>
            <a:r>
              <a:rPr sz="1100" b="0" i="0">
                <a:solidFill>
                  <a:srgbClr val="1F2228"/>
                </a:solidFill>
                <a:latin typeface="宋体" panose="02010600030101010101" pitchFamily="2" charset="-122"/>
              </a:rPr>
              <a:t>版本管理</a:t>
            </a:r>
            <a:r>
              <a:rPr sz="1100" b="0" i="0">
                <a:solidFill>
                  <a:srgbClr val="1F2228"/>
                </a:solidFill>
                <a:latin typeface="Times New Roman" panose="02020603050405020304"/>
              </a:rPr>
              <a:t> · mock/</a:t>
            </a:r>
            <a:r>
              <a:rPr sz="1100" b="0" i="0">
                <a:solidFill>
                  <a:srgbClr val="1F2228"/>
                </a:solidFill>
                <a:latin typeface="宋体" panose="02010600030101010101" pitchFamily="2" charset="-122"/>
              </a:rPr>
              <a:t>真实环境隔离</a:t>
            </a:r>
            <a:endParaRPr sz="1100" b="0" i="0">
              <a:solidFill>
                <a:srgbClr val="1F2228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 panose="02020603050405020304"/>
              </a:rPr>
              <a:t>08</a:t>
            </a:r>
            <a:endParaRPr sz="32000" b="1" i="0">
              <a:solidFill>
                <a:srgbClr val="E3E9F3"/>
              </a:solidFill>
              <a:latin typeface="Times New Roman" panose="020206030504050203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 panose="02010600030101010101" pitchFamily="2" charset="-122"/>
              </a:rPr>
              <a:t>第 八 章</a:t>
            </a:r>
            <a:endParaRPr sz="14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 panose="02010600030101010101" pitchFamily="2" charset="-122"/>
              </a:rPr>
              <a:t>团队介绍</a:t>
            </a:r>
            <a:endParaRPr sz="56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 panose="02020603050405020304"/>
              </a:rPr>
              <a:t>Team</a:t>
            </a:r>
            <a:endParaRPr sz="1400" b="0" i="0">
              <a:solidFill>
                <a:srgbClr val="6E727A"/>
              </a:solidFill>
              <a:latin typeface="Times New Roman" panose="020206030504050203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个人团队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吉林大学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AIOps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LLM Agent</a:t>
            </a:r>
            <a:endParaRPr sz="1000" b="1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 panose="02020603050405020304"/>
              </a:rPr>
              <a:t>MCP 生态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 panose="02010600030101010101" pitchFamily="2" charset="-122"/>
              </a:rPr>
              <a:t>全栈</a:t>
            </a:r>
            <a:endParaRPr sz="10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 panose="02010600030101010101" pitchFamily="2" charset="-122"/>
              </a:rPr>
              <a:t>个人团队 · 吉林大学 · 大数据管理与应用</a:t>
            </a:r>
            <a:endParaRPr sz="14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 panose="02020603050405020304"/>
              </a:rPr>
              <a:t>08 · 团队介绍</a:t>
            </a:r>
            <a:endParaRPr sz="13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 panose="02010600030101010101" pitchFamily="2" charset="-122"/>
              </a:rPr>
              <a:t>个人团队 · 一个人就是一支队伍</a:t>
            </a:r>
            <a:endParaRPr sz="2800" b="1" i="0">
              <a:solidFill>
                <a:srgbClr val="14275C"/>
              </a:solidFill>
              <a:latin typeface="宋体" panose="02010600030101010101" pitchFamily="2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486399" cy="41452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5603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Times New Roman" panose="02020603050405020304"/>
              </a:rPr>
              <a:t>TEAM</a:t>
            </a:r>
            <a:endParaRPr sz="1000" b="0" i="0">
              <a:solidFill>
                <a:srgbClr val="E85D26"/>
              </a:solidFill>
              <a:latin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499871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Times New Roman" panose="02020603050405020304"/>
              </a:rPr>
              <a:t>Edge AIOps</a:t>
            </a:r>
            <a:endParaRPr sz="2800" b="1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19" y="37795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Times New Roman" panose="02020603050405020304"/>
              </a:rPr>
              <a:t>─── 个人团队 · 1 人</a:t>
            </a:r>
            <a:endParaRPr sz="1200" b="0" i="0">
              <a:solidFill>
                <a:srgbClr val="CCD3E0"/>
              </a:solidFill>
              <a:latin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19" y="438911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 panose="02010600030101010101" pitchFamily="2" charset="-122"/>
              </a:rPr>
              <a:t>学校</a:t>
            </a:r>
            <a:endParaRPr sz="10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28799" y="438911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 panose="02010600030101010101" pitchFamily="2" charset="-122"/>
              </a:rPr>
              <a:t>吉林大学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19" y="487679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 panose="02010600030101010101" pitchFamily="2" charset="-122"/>
              </a:rPr>
              <a:t>专业</a:t>
            </a:r>
            <a:endParaRPr sz="10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828799" y="487679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 panose="02010600030101010101" pitchFamily="2" charset="-122"/>
              </a:rPr>
              <a:t>大数据管理与应用（本科）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19" y="536447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 panose="02010600030101010101" pitchFamily="2" charset="-122"/>
              </a:rPr>
              <a:t>方向</a:t>
            </a:r>
            <a:endParaRPr sz="10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828799" y="536447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 panose="02020603050405020304"/>
              </a:rPr>
              <a:t>AIOps · LLM Agent · MCP 生态 · Edge AI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19" y="585215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 panose="02010600030101010101" pitchFamily="2" charset="-122"/>
              </a:rPr>
              <a:t>负责</a:t>
            </a:r>
            <a:endParaRPr sz="10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828799" y="585215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 panose="02010600030101010101" pitchFamily="2" charset="-122"/>
              </a:rPr>
              <a:t>方案 · Demo · PPT · 文档 · Skill 体系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17919" y="2316479"/>
            <a:ext cx="5486399" cy="18287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759" y="243839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 panose="02010600030101010101" pitchFamily="2" charset="-122"/>
              </a:rPr>
              <a:t>技术栈</a:t>
            </a:r>
            <a:endParaRPr sz="11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75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Python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191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FastAPI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207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AgentTeams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223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LLM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175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AIOps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191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Nacos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207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MCP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0223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 panose="02020603050405020304"/>
              </a:rPr>
              <a:t>Docker</a:t>
            </a:r>
            <a:endParaRPr sz="1000" b="0" i="0">
              <a:solidFill>
                <a:srgbClr val="14275C"/>
              </a:solidFill>
              <a:latin typeface="Times New Roman" panose="02020603050405020304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217919" y="4328159"/>
            <a:ext cx="5486399" cy="2133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1759" y="445007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 panose="02010600030101010101" pitchFamily="2" charset="-122"/>
              </a:rPr>
              <a:t>项目产出</a:t>
            </a:r>
            <a:endParaRPr sz="1100" b="1" i="0">
              <a:solidFill>
                <a:srgbClr val="E85D26"/>
              </a:solidFill>
              <a:latin typeface="宋体" panose="02010600030101010101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583679" y="493775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 panose="02020603050405020304"/>
              </a:rPr>
              <a:t>· edge-aiops-demo 完整仓库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583679" y="530351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 panose="02020603050405020304"/>
              </a:rPr>
              <a:t>· 2 个 Edge AIOps 事故的端到端 Demo</a:t>
            </a:r>
            <a:endParaRPr sz="1100" b="0" i="0">
              <a:solidFill>
                <a:srgbClr val="FFFFFF"/>
              </a:solidFill>
              <a:latin typeface="Times New Roman" panose="02020603050405020304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583679" y="566927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 panose="02020603050405020304"/>
              </a:rPr>
              <a:t>· 7 个 Skill + 11 类工具契约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583679" y="603503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 panose="02020603050405020304"/>
              </a:rPr>
              <a:t>· 结构化事故报告模板 · 4 周落地 roadmap</a:t>
            </a:r>
            <a:endParaRPr sz="1100" b="0" i="0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3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4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5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6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7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8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9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0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1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2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3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4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5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6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7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8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19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0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1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2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3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4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5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6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7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8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29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30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31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ags/tag32.xml><?xml version="1.0" encoding="utf-8"?>
<p:tagLst xmlns:p="http://schemas.openxmlformats.org/presentationml/2006/main">
  <p:tag name="KSO_WM_DIAGRAM_VIRTUALLY_FRAME" val="{&quot;height&quot;:308.16,&quot;left&quot;:46.8,&quot;top&quot;:162,&quot;width&quot;:866.37606299212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4205</Words>
  <Application>WPS 演示</Application>
  <PresentationFormat>On-screen Show (16:9)</PresentationFormat>
  <Paragraphs>658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Arial</vt:lpstr>
      <vt:lpstr>宋体</vt:lpstr>
      <vt:lpstr>Wingdings</vt:lpstr>
      <vt:lpstr>Times New Roman</vt:lpstr>
      <vt:lpstr>微软雅黑</vt:lpstr>
      <vt:lpstr>微软雅黑</vt:lpstr>
      <vt:lpstr>Calibri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李博</cp:lastModifiedBy>
  <cp:revision>9</cp:revision>
  <dcterms:created xsi:type="dcterms:W3CDTF">2026-08-01T12:03:00Z</dcterms:created>
  <dcterms:modified xsi:type="dcterms:W3CDTF">2026-08-16T14:49:49Z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2052-12.1.0.28022</vt:lpwstr>
  </property>
</Properties>
</file>