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50" r:id="rId3"/>
  </p:sldMasterIdLst>
  <p:notesMasterIdLst>
    <p:notesMasterId r:id="rId5"/>
  </p:notesMasterIdLst>
  <p:sldIdLst>
    <p:sldId id="256" r:id="rId4"/>
    <p:sldId id="258" r:id="rId6"/>
    <p:sldId id="268" r:id="rId7"/>
    <p:sldId id="259" r:id="rId8"/>
    <p:sldId id="269" r:id="rId9"/>
    <p:sldId id="270" r:id="rId10"/>
    <p:sldId id="260" r:id="rId11"/>
    <p:sldId id="271" r:id="rId12"/>
    <p:sldId id="261" r:id="rId13"/>
    <p:sldId id="272" r:id="rId14"/>
    <p:sldId id="262" r:id="rId15"/>
    <p:sldId id="273" r:id="rId16"/>
    <p:sldId id="263" r:id="rId17"/>
    <p:sldId id="274" r:id="rId18"/>
    <p:sldId id="264" r:id="rId19"/>
    <p:sldId id="275" r:id="rId20"/>
    <p:sldId id="265" r:id="rId21"/>
    <p:sldId id="277" r:id="rId22"/>
    <p:sldId id="278" r:id="rId2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233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 showGuides="1">
      <p:cViewPr varScale="1">
        <p:scale>
          <a:sx n="136" d="100"/>
          <a:sy n="136" d="100"/>
        </p:scale>
        <p:origin x="216" y="312"/>
      </p:cViewPr>
      <p:guideLst>
        <p:guide orient="horz" pos="1933"/>
        <p:guide pos="3840"/>
        <p:guide orient="horz" pos="233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【</a:t>
            </a:r>
            <a:r>
              <a:rPr lang="zh-CN" altLang="en-US" dirty="0"/>
              <a:t>可考虑从以下维度展开</a:t>
            </a:r>
            <a:r>
              <a:rPr lang="en-US" altLang="zh-CN" dirty="0"/>
              <a:t>】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28016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822960" y="4937760"/>
            <a:ext cx="2743200" cy="27432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55448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GOAI 世界人工智能开源大赛 · Agent Infra 赛道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965960"/>
            <a:ext cx="8686800" cy="1737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Edge AIOps — Multi-Agent Incident Response</a:t>
            </a:r>
            <a:endParaRPr lang="en-US" sz="4600" dirty="0"/>
          </a:p>
          <a:p>
            <a:pPr marL="0" indent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594360" y="6172200"/>
            <a:ext cx="73152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EB6D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libo9922 · 团队名</a:t>
            </a:r>
            <a:endParaRPr lang="en-US" sz="1100" dirty="0"/>
          </a:p>
        </p:txBody>
      </p:sp>
      <p:sp>
        <p:nvSpPr>
          <p:cNvPr id="19" name="文本框 18"/>
          <p:cNvSpPr txBox="1"/>
          <p:nvPr/>
        </p:nvSpPr>
        <p:spPr>
          <a:xfrm>
            <a:off x="594360" y="3826510"/>
            <a:ext cx="6096000" cy="32194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marL="0" indent="0">
              <a:buNone/>
            </a:pP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Edge AIOps · 边缘 + 模型 + OTA 智能运维协同</a:t>
            </a:r>
            <a:r>
              <a:rPr lang="zh-CN" alt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altLang="zh-CN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r>
              <a:rPr lang="en-US" sz="1500" b="1" kern="0" spc="2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/>
            </a:r>
            <a:endParaRPr lang="en-US" altLang="en-US" sz="1500" b="1" kern="0" spc="200" dirty="0">
              <a:solidFill>
                <a:srgbClr val="FF6B35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P0 · 一页纸速览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作品简介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50392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项目名称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≤ 20 字 · 一句话说清「为谁、解决什么」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50392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Edge AIOps 边缘 AI 智能运维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53458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09490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56378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问题与场景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09490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目标用户是谁、在什么场景、现实痛点是什么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09490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边缘 AI 部署千级 GPU 节点 + 数十模型版本 + OTA 流水线。事故时单 Agent 串行失去阶段边界，多工具独立调用失去证据链。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12557" y="1965960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368589" y="2221992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8615477" y="2130552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核心解决方案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68589" y="2514600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一句话讲清整体思路：用多 Agent + Skill 怎么解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368589" y="3063240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职能 Agent（检测 / 归因 / 规划 / 验证）+ 7 决策类 Skill；agents-decide / operators-execute 拆分，HITL seam 做 L2/L3 审批。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94360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50392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097280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创新点与差异化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50392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对比现有做法，你独特 / 更优在哪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0392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Agent 不直接执行高风险动作，demo→生产代码零改动；② 7 Skill 全部版本化 + 质量门 + 轻量 RAG。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53458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09490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856378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复用价值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609490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可复用成果、能迁移到哪些场景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609490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 个决策类 Skill 可迁移到任何 AIOps 场景；11 个 mock 工具接口与真协议对齐，落地仅替换实现。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8112557" y="3776472"/>
            <a:ext cx="3484778" cy="1554480"/>
          </a:xfrm>
          <a:prstGeom prst="roundRect">
            <a:avLst>
              <a:gd name="adj" fmla="val 4706"/>
            </a:avLst>
          </a:prstGeom>
          <a:solidFill>
            <a:srgbClr val="E9EEF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8368589" y="4032504"/>
            <a:ext cx="146304" cy="146304"/>
          </a:xfrm>
          <a:prstGeom prst="ellipse">
            <a:avLst/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615477" y="3941064"/>
            <a:ext cx="279897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当前进展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8368589" y="4325112"/>
            <a:ext cx="3027578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做到了什么程度、有无可运行成果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68589" y="4873752"/>
            <a:ext cx="3027578" cy="34747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9AA1B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 demo 跑通：6 Worker + 4 Agent + 7 Skill + 11 工具 + 2 场景；复赛 4 周 roadmap 已规划到 docs/final-roadmap.md。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1F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914400" y="4754880"/>
            <a:ext cx="2926080" cy="2926080"/>
          </a:xfrm>
          <a:prstGeom prst="ellipse">
            <a:avLst/>
          </a:prstGeom>
          <a:solidFill>
            <a:srgbClr val="2A2F5B"/>
          </a:solidFill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94360" y="1051560"/>
            <a:ext cx="9144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CN" altLang="en-US" sz="3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zh-CN" altLang="en-US" sz="3000" b="1" dirty="0">
              <a:solidFill>
                <a:srgbClr val="FFFFFF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94360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795528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95528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216152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057400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525616" y="2304288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525616" y="2304288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46240" y="2057400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工程落地、运行验证与安全可审计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94360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795528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5528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16152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6324448" y="3099816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525616" y="3346704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525616" y="3346704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946240" y="3099816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开源开放计划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594360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95528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95528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3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216152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Agent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协同设计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324448" y="4142232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6525616" y="4389120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25616" y="438912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7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6240" y="4142232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  <a:sym typeface="+mn-ea"/>
              </a:rPr>
              <a:t>落地计划与进展</a:t>
            </a:r>
            <a:endParaRPr 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  <a:sym typeface="+mn-ea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594360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795528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95528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4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1216152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Skills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工具体系</a:t>
            </a:r>
            <a:endParaRPr lang="zh-CN" altLang="en-US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6324448" y="5184648"/>
            <a:ext cx="5272888" cy="786384"/>
          </a:xfrm>
          <a:prstGeom prst="roundRect">
            <a:avLst>
              <a:gd name="adj" fmla="val 6977"/>
            </a:avLst>
          </a:prstGeom>
          <a:solidFill>
            <a:srgbClr val="2A2F5B"/>
          </a:solidFill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6525616" y="5431536"/>
            <a:ext cx="292608" cy="292608"/>
          </a:xfrm>
          <a:prstGeom prst="roundRect">
            <a:avLst>
              <a:gd name="adj" fmla="val 15625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25616" y="5431536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/>
              <a:t>8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946240" y="5184648"/>
            <a:ext cx="4495648" cy="7863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Demo</a:t>
            </a:r>
            <a:r>
              <a:rPr lang="zh-CN" altLang="en-US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视频（如有</a:t>
            </a:r>
            <a:r>
              <a:rPr lang="en-US" altLang="zh-CN" sz="1250" dirty="0">
                <a:solidFill>
                  <a:schemeClr val="bg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）</a:t>
            </a:r>
            <a:endParaRPr lang="en-US" altLang="zh-CN" sz="1250" dirty="0">
              <a:solidFill>
                <a:schemeClr val="bg1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345375" y="363855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546543" y="455295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546543" y="674751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场景价值与行业可复制性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10774375" y="528447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774375" y="528447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0"/>
          <p:cNvSpPr/>
          <p:nvPr/>
        </p:nvSpPr>
        <p:spPr>
          <a:xfrm>
            <a:off x="340360" y="2748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第一章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340360" y="5491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场景与价值</a:t>
            </a:r>
            <a:endParaRPr lang="en-US" sz="2900" dirty="0"/>
          </a:p>
        </p:txBody>
      </p:sp>
      <p:sp>
        <p:nvSpPr>
          <p:cNvPr id="5" name="文本框 4"/>
          <p:cNvSpPr txBox="1"/>
          <p:nvPr/>
        </p:nvSpPr>
        <p:spPr>
          <a:xfrm>
            <a:off x="244475" y="118935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边缘 AI 运维 4 大痛点：千级节点 · 数十模型 · 4 类漂移 · 风险分级模糊。我们的方案：4 Agent 协同 + 7 决策 Skill + HITL seam。可迁移到制造 / 零售 / 物流等任何边缘 AI 场景。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0360" y="2390775"/>
            <a:ext cx="5560060" cy="312737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3968115" y="557403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目标用户：边缘 AI 运维团队 · 模型平台 SRE · OTA 平台负责人</a:t>
            </a:r>
            <a:r>
              <a:rPr lang="zh-CN" altLang="en-US"/>
              <a:t/>
            </a:r>
            <a:r>
              <a:rPr lang="en-US" altLang="zh-CN"/>
              <a:t/>
            </a:r>
            <a:endParaRPr lang="en-US" altLang="zh-CN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2505" y="2390775"/>
            <a:ext cx="5485765" cy="31013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296278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3710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第二章 · 承上启下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方案总览</a:t>
            </a:r>
            <a:endParaRPr lang="en-US" sz="290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EdgeSentinel（检测）→ EdgeDiagnostician（归因）→ EdgeOrchestrator（规划）→ EdgeSentry（验证）→ Request Queue（HITL seam）→ External Operator Pool（生产环境外）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77415" y="1801495"/>
            <a:ext cx="7837805" cy="44183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672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415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协同与自主闭环能力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 Agent 协同设计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分工：4 Agent 各管一阶段。任务拆解：dependency_graph 显式声明。上下文：每个 Agent 输出 JSON 契约 + evidence_refs。异常：risk-guard L0-L3 分级；冲突：top_candidate + alternatives + confidence。安全边界：L2/L3 必经 HITL，rollback_point + 队列审计。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2304415"/>
            <a:ext cx="5283200" cy="2964180"/>
          </a:xfrm>
          <a:prstGeom prst="rect">
            <a:avLst/>
          </a:prstGeom>
        </p:spPr>
      </p:pic>
      <p:pic>
        <p:nvPicPr>
          <p:cNvPr id="39" name="图片 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9370" y="2304415"/>
            <a:ext cx="5285740" cy="29641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6786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4218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  <p:txBody>
          <a:bodyPr/>
          <a:p/>
        </p:txBody>
      </p:sp>
      <p:sp>
        <p:nvSpPr>
          <p:cNvPr id="12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3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工程体系与生态复用</a:t>
            </a:r>
            <a:endParaRPr lang="en-US" sz="1250" dirty="0"/>
          </a:p>
        </p:txBody>
      </p:sp>
      <p:sp>
        <p:nvSpPr>
          <p:cNvPr id="14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5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第四章 · 本赛题必选项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Skill 工程体系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25%</a:t>
            </a:r>
            <a:endParaRPr lang="en-US" sz="15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7 个决策类 Skill：alert-fusion · impact-mapping · log-trace-rca · model-governance · remediation-plan · risk-guard · recovery-verify。每个含 YAML frontmatter（version + maturity）+ Inputs + Procedure + Output Contract + Quality Gates。复用：可迁移到任何 AIOps 场景；版本化 frontmatter 支持生命周期管理。官方 Skills：Edge AIOps 不强依赖云产品，但接口与阿里云 MCP 适配层对齐，未来可接入。</a:t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r>
              <a:rPr lang="en-US" altLang="zh-CN">
                <a:latin typeface="微软雅黑" pitchFamily="34" charset="0"/>
                <a:ea typeface="微软雅黑" pitchFamily="34" charset="0"/>
              </a:rPr>
              <a:t/>
            </a:r>
            <a:r>
              <a:rPr lang="zh-CN" altLang="en-US">
                <a:latin typeface="微软雅黑" pitchFamily="34" charset="0"/>
                <a:ea typeface="微软雅黑" pitchFamily="34" charset="0"/>
              </a:rPr>
              <a:t/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25165" y="2377440"/>
            <a:ext cx="5741670" cy="32353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0"/>
          <p:cNvSpPr/>
          <p:nvPr/>
        </p:nvSpPr>
        <p:spPr>
          <a:xfrm>
            <a:off x="594360" y="2991993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6" name="Text 1"/>
          <p:cNvSpPr/>
          <p:nvPr/>
        </p:nvSpPr>
        <p:spPr>
          <a:xfrm>
            <a:off x="594360" y="3266313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7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  <p:txBody>
          <a:bodyPr/>
          <a:p/>
        </p:txBody>
      </p:sp>
      <p:sp>
        <p:nvSpPr>
          <p:cNvPr id="8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9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工程落地与安全可审计</a:t>
            </a:r>
            <a:endParaRPr lang="en-US" sz="1250" dirty="0"/>
          </a:p>
        </p:txBody>
      </p:sp>
      <p:sp>
        <p:nvSpPr>
          <p:cNvPr id="10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11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20%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第五章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工程落地、运行验证与安全可审计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可运行：mock_tool_server.py 已跑通，5 类 curl 输出见 docs/demo-run-evidence.md。证据：trace + requests 端点全审计，每个 Agent 输出含 evidence_refs。可观测：tool trace + request queue + LoongSuite OTel（复赛）。检索：mock_runbook 轻量 RAG（tag + symptom 评分），返回 score=6.0 + breakdown。安全：L0/L1 auto_approved vs L2/L3 pending_approval；approval ticket；rollback_point；audit。云产品：Edge AIOps 主要信号源在边缘 + 模型 + OTA，未来可接 ARMS / PAI / SLS / Nacos。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0" y="1988820"/>
            <a:ext cx="3830087" cy="2160000"/>
          </a:xfrm>
          <a:prstGeom prst="rect">
            <a:avLst/>
          </a:prstGeom>
        </p:spPr>
      </p:pic>
      <p:pic>
        <p:nvPicPr>
          <p:cNvPr id="40" name="图片 3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5535" y="1996440"/>
            <a:ext cx="3837275" cy="2160000"/>
          </a:xfrm>
          <a:prstGeom prst="rect">
            <a:avLst/>
          </a:prstGeom>
        </p:spPr>
      </p:pic>
      <p:pic>
        <p:nvPicPr>
          <p:cNvPr id="41" name="图片 4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4288155"/>
            <a:ext cx="3838315" cy="2160000"/>
          </a:xfrm>
          <a:prstGeom prst="rect">
            <a:avLst/>
          </a:prstGeom>
        </p:spPr>
      </p:pic>
      <p:pic>
        <p:nvPicPr>
          <p:cNvPr id="42" name="图片 4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5535" y="4303395"/>
            <a:ext cx="38318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2" name="Text 0"/>
          <p:cNvSpPr/>
          <p:nvPr/>
        </p:nvSpPr>
        <p:spPr>
          <a:xfrm>
            <a:off x="594360" y="298373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325805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16" name="Shape 2"/>
          <p:cNvSpPr/>
          <p:nvPr/>
        </p:nvSpPr>
        <p:spPr>
          <a:xfrm>
            <a:off x="7116775" y="457200"/>
            <a:ext cx="4480560" cy="786384"/>
          </a:xfrm>
          <a:prstGeom prst="roundRect">
            <a:avLst>
              <a:gd name="adj" fmla="val 11628"/>
            </a:avLst>
          </a:prstGeom>
          <a:solidFill>
            <a:srgbClr val="FFEDE4"/>
          </a:solidFill>
          <a:ln w="12700">
            <a:solidFill>
              <a:srgbClr val="FF6B35"/>
            </a:solidFill>
            <a:prstDash val="solid"/>
          </a:ln>
        </p:spPr>
        <p:txBody>
          <a:bodyPr/>
          <a:p/>
        </p:txBody>
      </p:sp>
      <p:sp>
        <p:nvSpPr>
          <p:cNvPr id="17" name="Text 3"/>
          <p:cNvSpPr/>
          <p:nvPr/>
        </p:nvSpPr>
        <p:spPr>
          <a:xfrm>
            <a:off x="7317943" y="548640"/>
            <a:ext cx="31089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对应评分维度</a:t>
            </a:r>
            <a:endParaRPr lang="en-US" sz="1000" dirty="0"/>
          </a:p>
        </p:txBody>
      </p:sp>
      <p:sp>
        <p:nvSpPr>
          <p:cNvPr id="18" name="Text 4"/>
          <p:cNvSpPr/>
          <p:nvPr/>
        </p:nvSpPr>
        <p:spPr>
          <a:xfrm>
            <a:off x="7317943" y="768096"/>
            <a:ext cx="3108960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开源贡献</a:t>
            </a:r>
            <a:endParaRPr lang="en-US" sz="1250" dirty="0"/>
          </a:p>
        </p:txBody>
      </p:sp>
      <p:sp>
        <p:nvSpPr>
          <p:cNvPr id="19" name="Shape 5"/>
          <p:cNvSpPr/>
          <p:nvPr/>
        </p:nvSpPr>
        <p:spPr>
          <a:xfrm>
            <a:off x="10545775" y="621792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FF6B35"/>
          </a:solidFill>
        </p:spPr>
        <p:txBody>
          <a:bodyPr/>
          <a:p/>
        </p:txBody>
      </p:sp>
      <p:sp>
        <p:nvSpPr>
          <p:cNvPr id="20" name="Text 6"/>
          <p:cNvSpPr/>
          <p:nvPr/>
        </p:nvSpPr>
        <p:spPr>
          <a:xfrm>
            <a:off x="10545775" y="621792"/>
            <a:ext cx="868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5%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第六章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开放 / 开源计划</a:t>
            </a:r>
            <a:endParaRPr lang="en-US" sz="29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25780" y="120459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latin typeface="微软雅黑" pitchFamily="34" charset="0"/>
                <a:ea typeface="微软雅黑" pitchFamily="34" charset="0"/>
              </a:rPr>
              <a:t>可复用成果：完整 demo 仓库（含 6 Worker + 4 Agent + 7 Skill + 11 工具 + 2 场景）。接口契约：tool_catalog.json 标 future_mcp_mapping，mock 与真协议 1:1 对齐。文档：README + at/* + docs/* 共 8 份。开源协议：Apache-2.0。第三方依赖：仅 stdlib（mock 阶段）。PR 计划：5 个（AgentTeams docs + Skill template + MCP server + AgentScope OTel + Argo RBAC）。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第七章 · 对应「当前进展」与整体可行性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落地计划与进展</a:t>
            </a:r>
            <a:endParaRPr lang="en-US" sz="2900" dirty="0"/>
          </a:p>
        </p:txBody>
      </p:sp>
      <p:sp>
        <p:nvSpPr>
          <p:cNvPr id="33" name="Text 31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00" dirty="0"/>
          </a:p>
        </p:txBody>
      </p:sp>
      <p:sp>
        <p:nvSpPr>
          <p:cNvPr id="38" name="文本框 37"/>
          <p:cNvSpPr txBox="1"/>
          <p:nvPr/>
        </p:nvSpPr>
        <p:spPr>
          <a:xfrm>
            <a:off x="594360" y="1298575"/>
            <a:ext cx="80130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当前进展：v0.3.0 demo 跑通（4 Agent + 7 Skill + 11 工具 + 2 场景 + mock 验证）。Week 1：K3s + Triton + Prometheus + Grafana。Week 2：MLflow + Argo Rollouts + OTel + Jaeger + 5 个 Operator。Week 3：RAG + LoongSuite OTel + 全链路演练。Week 4：失败注入 + RBAC 验证 + evidence URL + 录屏。风险：LLM 限速 / K3s 故障 / Argo RBAC / MLflow stage 竞争 / LLM 幻觉。缓解：预录 fallback / docker-compose 备份 / RBAC 脚本 / 幂等 Operator / evidence 闸。</a:t>
            </a:r>
            <a:endParaRPr lang="zh-CN" altLang="en-US">
              <a:latin typeface="微软雅黑" pitchFamily="34" charset="0"/>
              <a:ea typeface="微软雅黑" pitchFamily="34" charset="0"/>
            </a:endParaRPr>
          </a:p>
        </p:txBody>
      </p:sp>
      <p:pic>
        <p:nvPicPr>
          <p:cNvPr id="35" name="图片 3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9640" y="2328545"/>
            <a:ext cx="4911725" cy="2768600"/>
          </a:xfrm>
          <a:prstGeom prst="rect">
            <a:avLst/>
          </a:prstGeom>
        </p:spPr>
      </p:pic>
      <p:pic>
        <p:nvPicPr>
          <p:cNvPr id="36" name="图片 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9210" y="2458720"/>
            <a:ext cx="5327015" cy="24822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ext 34"/>
          <p:cNvSpPr/>
          <p:nvPr/>
        </p:nvSpPr>
        <p:spPr>
          <a:xfrm>
            <a:off x="11277295" y="640080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0"/>
          <p:cNvSpPr/>
          <p:nvPr/>
        </p:nvSpPr>
        <p:spPr>
          <a:xfrm>
            <a:off x="594360" y="299262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第八章 ·</a:t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94360" y="326694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团队介绍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94360" y="384048"/>
            <a:ext cx="685800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第八章</a:t>
            </a:r>
            <a:r>
              <a:rPr lang="zh-CN" alt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r>
              <a:rPr lang="en-US" sz="1200" b="1" kern="0" spc="100" dirty="0">
                <a:solidFill>
                  <a:srgbClr val="FF6B3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749808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p>
            <a:pPr marL="0" indent="0" algn="l">
              <a:buNone/>
            </a:pP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团队介绍</a:t>
            </a:r>
            <a:r>
              <a:rPr lang="zh-CN" altLang="en-US" sz="2900" b="1" dirty="0">
                <a:solidFill>
                  <a:srgbClr val="1B1F3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/>
            </a:r>
            <a:endParaRPr lang="zh-CN" altLang="en-US" sz="2900" b="1" dirty="0">
              <a:solidFill>
                <a:srgbClr val="1B1F3B"/>
              </a:solidFill>
              <a:latin typeface="微软雅黑" pitchFamily="34" charset="0"/>
              <a:ea typeface="微软雅黑" pitchFamily="34" charset="-122"/>
              <a:cs typeface="微软雅黑" pitchFamily="34" charset="-120"/>
            </a:endParaRPr>
          </a:p>
        </p:txBody>
      </p:sp>
      <p:sp>
        <p:nvSpPr>
          <p:cNvPr id="38" name="文本框 37"/>
          <p:cNvSpPr txBox="1"/>
          <p:nvPr/>
        </p:nvSpPr>
        <p:spPr>
          <a:xfrm>
            <a:off x="594360" y="1513840"/>
            <a:ext cx="9534525" cy="50774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可从以下方面介绍团队基本情况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：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1. 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成员背景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：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基本背景信息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（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学校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/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公司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、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岗位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/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专业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）</a:t>
            </a: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  <a:sym typeface="+mn-ea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每位成员的核心技能是什么？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（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技术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、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专业领域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）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  <a:sym typeface="+mn-ea"/>
            </a:endParaRPr>
          </a:p>
          <a:p>
            <a:pPr indent="0" algn="l">
              <a:lnSpc>
                <a:spcPct val="150000"/>
              </a:lnSpc>
              <a:buClrTx/>
              <a:buSzTx/>
              <a:buFont typeface="Arial" panose="020B0604020202090204" pitchFamily="34" charset="0"/>
              <a:buNone/>
            </a:pP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algn="l">
              <a:lnSpc>
                <a:spcPct val="150000"/>
              </a:lnSpc>
              <a:buClrTx/>
              <a:buSzTx/>
              <a:buFontTx/>
            </a:pP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2. 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团队分工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：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请列出每位核心成员的角色</a:t>
            </a: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  <a:sym typeface="+mn-ea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  <a:sym typeface="+mn-ea"/>
            </a:endParaRPr>
          </a:p>
          <a:p>
            <a:pPr indent="0" algn="l">
              <a:lnSpc>
                <a:spcPct val="150000"/>
              </a:lnSpc>
              <a:buClrTx/>
              <a:buSzTx/>
              <a:buFont typeface="Arial" panose="020B0604020202090204" pitchFamily="34" charset="0"/>
              <a:buNone/>
            </a:pP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3. 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团队成果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：</a:t>
            </a:r>
            <a:endParaRPr lang="en-US" altLang="zh-CN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过往项目经历</a:t>
            </a:r>
            <a:r>
              <a:rPr lang="en-US" altLang="zh-CN">
                <a:latin typeface="微软雅黑" pitchFamily="34" charset="0"/>
                <a:ea typeface="微软雅黑" pitchFamily="34" charset="0"/>
                <a:cs typeface="微软雅黑" pitchFamily="34" charset="0"/>
              </a:rPr>
              <a:t>/</a:t>
            </a: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</a:rPr>
              <a:t>获奖经历</a:t>
            </a: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  <a:p>
            <a:pPr marL="285750" indent="-285750" algn="l">
              <a:lnSpc>
                <a:spcPct val="150000"/>
              </a:lnSpc>
              <a:buClrTx/>
              <a:buSzTx/>
              <a:buFont typeface="Arial" panose="020B0604020202090204" pitchFamily="34" charset="0"/>
              <a:buChar char="•"/>
            </a:pPr>
            <a:r>
              <a:rPr lang="zh-CN" altLang="en-US">
                <a:latin typeface="微软雅黑" pitchFamily="34" charset="0"/>
                <a:ea typeface="微软雅黑" pitchFamily="34" charset="0"/>
                <a:cs typeface="微软雅黑" pitchFamily="34" charset="0"/>
                <a:sym typeface="+mn-ea"/>
              </a:rPr>
              <a:t>作品合集链接</a:t>
            </a:r>
            <a:endParaRPr lang="zh-CN" altLang="en-US">
              <a:latin typeface="微软雅黑" pitchFamily="34" charset="0"/>
              <a:ea typeface="微软雅黑" pitchFamily="34" charset="0"/>
              <a:cs typeface="微软雅黑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1181</Words>
  <Application>WPS 文字</Application>
  <PresentationFormat>On-screen Show (16:9)</PresentationFormat>
  <Paragraphs>230</Paragraphs>
  <Slides>19</Slides>
  <Notes>12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19</vt:i4>
      </vt:variant>
    </vt:vector>
  </HeadingPairs>
  <TitlesOfParts>
    <vt:vector size="35" baseType="lpstr">
      <vt:lpstr>Arial</vt:lpstr>
      <vt:lpstr>宋体</vt:lpstr>
      <vt:lpstr>Wingdings</vt:lpstr>
      <vt:lpstr>微软雅黑</vt:lpstr>
      <vt:lpstr>汉仪旗黑</vt:lpstr>
      <vt:lpstr>微软雅黑</vt:lpstr>
      <vt:lpstr>微软雅黑</vt:lpstr>
      <vt:lpstr>Calibri</vt:lpstr>
      <vt:lpstr>Helvetica Neue</vt:lpstr>
      <vt:lpstr>宋体</vt:lpstr>
      <vt:lpstr>Arial Unicode MS</vt:lpstr>
      <vt:lpstr>汉仪书宋二KW</vt:lpstr>
      <vt:lpstr>等线</vt:lpstr>
      <vt:lpstr>汉仪中等线KW</vt:lpstr>
      <vt:lpstr>Office Theme</vt:lpstr>
      <vt:lpstr>1_Office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初赛方案 PPT 内容框架模板</dc:title>
  <dc:creator>Datawhale</dc:creator>
  <dc:subject>PptxGenJS Presentation</dc:subject>
  <cp:lastModifiedBy>cindy</cp:lastModifiedBy>
  <cp:revision>5</cp:revision>
  <dcterms:created xsi:type="dcterms:W3CDTF">2026-08-01T12:03:46Z</dcterms:created>
  <dcterms:modified xsi:type="dcterms:W3CDTF">2026-08-01T12:03:46Z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3283D07A5C6A9C54A2E06D6A5481CE4C_43</vt:lpwstr>
  </property>
  <property fmtid="{D5CDD505-2E9C-101B-9397-08002B2CF9AE}" pid="3" name="KSOProductBuildVer">
    <vt:lpwstr>2052-12.1.22218.22218</vt:lpwstr>
  </property>
</Properties>
</file>